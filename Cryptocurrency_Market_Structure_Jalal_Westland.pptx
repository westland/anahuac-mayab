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business.uic.edu/profiles/westland-james-christopher/"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658368"/>
            <a:ext cx="9997135" cy="5596128"/>
          </a:xfrm>
          <a:prstGeom prst="roundRect">
            <a:avLst>
              <a:gd name="adj" fmla="val 4000"/>
            </a:avLst>
          </a:prstGeom>
          <a:solidFill>
            <a:srgbClr val="3D2314"/>
          </a:solidFill>
          <a:ln w="317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95360" y="896112"/>
            <a:ext cx="2103120" cy="640080"/>
          </a:xfrm>
          <a:prstGeom prst="roundRect">
            <a:avLst>
              <a:gd name="adj" fmla="val 25000"/>
            </a:avLst>
          </a:prstGeom>
          <a:solidFill>
            <a:srgbClr val="FFFFFF"/>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anahuac.png"/>
          <p:cNvPicPr>
            <a:picLocks noChangeAspect="1"/>
          </p:cNvPicPr>
          <p:nvPr/>
        </p:nvPicPr>
        <p:blipFill>
          <a:blip r:embed="rId2"/>
          <a:stretch>
            <a:fillRect/>
          </a:stretch>
        </p:blipFill>
        <p:spPr>
          <a:xfrm>
            <a:off x="8686800" y="960120"/>
            <a:ext cx="1920240" cy="545366"/>
          </a:xfrm>
          <a:prstGeom prst="rect">
            <a:avLst/>
          </a:prstGeom>
        </p:spPr>
      </p:pic>
      <p:sp>
        <p:nvSpPr>
          <p:cNvPr id="7" name="Rounded Rectangle 6"/>
          <p:cNvSpPr/>
          <p:nvPr/>
        </p:nvSpPr>
        <p:spPr>
          <a:xfrm>
            <a:off x="1463040" y="932688"/>
            <a:ext cx="4114800" cy="347472"/>
          </a:xfrm>
          <a:prstGeom prst="round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defRPr>
            </a:pPr>
            <a:r>
              <a:t>FINANCE &amp; FINANCIAL TECHNOLOGY (FINTECH)</a:t>
            </a:r>
          </a:p>
        </p:txBody>
      </p:sp>
      <p:sp>
        <p:nvSpPr>
          <p:cNvPr id="8" name="TextBox 7"/>
          <p:cNvSpPr txBox="1"/>
          <p:nvPr/>
        </p:nvSpPr>
        <p:spPr>
          <a:xfrm>
            <a:off x="1463040" y="1389888"/>
            <a:ext cx="9235440" cy="1783080"/>
          </a:xfrm>
          <a:prstGeom prst="rect">
            <a:avLst/>
          </a:prstGeom>
          <a:noFill/>
        </p:spPr>
        <p:txBody>
          <a:bodyPr wrap="square">
            <a:spAutoFit/>
          </a:bodyPr>
          <a:lstStyle/>
          <a:p>
            <a:pPr>
              <a:spcAft>
                <a:spcPts val="400"/>
              </a:spcAft>
              <a:defRPr sz="3200" b="1">
                <a:solidFill>
                  <a:srgbClr val="FFFFFF"/>
                </a:solidFill>
                <a:latin typeface="Segoe UI"/>
              </a:defRPr>
            </a:pPr>
            <a:r>
              <a:t>Cryptocurrency Market Structure</a:t>
            </a:r>
          </a:p>
          <a:p>
            <a:pPr>
              <a:spcAft>
                <a:spcPts val="800"/>
              </a:spcAft>
              <a:defRPr sz="1650">
                <a:solidFill>
                  <a:srgbClr val="FF5900"/>
                </a:solidFill>
                <a:latin typeface="Segoe UI"/>
              </a:defRPr>
            </a:pPr>
            <a:r>
              <a:t>Microstructure, Derivatives, Stablecoins, and Limits of Algorithmic Forensics</a:t>
            </a:r>
          </a:p>
          <a:p>
            <a:pPr>
              <a:defRPr sz="1100">
                <a:solidFill>
                  <a:srgbClr val="F5EDE4"/>
                </a:solidFill>
                <a:latin typeface="Segoe UI"/>
              </a:defRPr>
            </a:pPr>
            <a:r>
              <a:t>A comprehensive analysis of digital asset market architecture: consensus mechanisms, peer-to-peer protocols, mining economics, wallet cryptography, order book liquidity, derivatives dominance, the migration of illicit flows to stablecoins, and empirical findings from Jalal &amp; Westland on the base-rate fallacy in anti-money laundering automated governance.</a:t>
            </a:r>
          </a:p>
        </p:txBody>
      </p:sp>
      <p:sp>
        <p:nvSpPr>
          <p:cNvPr id="9" name="Rounded Rectangle 8"/>
          <p:cNvSpPr/>
          <p:nvPr/>
        </p:nvSpPr>
        <p:spPr>
          <a:xfrm>
            <a:off x="1417320" y="3246120"/>
            <a:ext cx="9357055" cy="2788920"/>
          </a:xfrm>
          <a:prstGeom prst="roundRect">
            <a:avLst>
              <a:gd name="adj" fmla="val 4000"/>
            </a:avLst>
          </a:prstGeom>
          <a:solidFill>
            <a:srgbClr val="2B180D"/>
          </a:solidFill>
          <a:ln w="15240">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00200" y="3364992"/>
            <a:ext cx="5577840" cy="2542032"/>
          </a:xfrm>
          <a:prstGeom prst="rect">
            <a:avLst/>
          </a:prstGeom>
          <a:noFill/>
        </p:spPr>
        <p:txBody>
          <a:bodyPr wrap="square" lIns="0" tIns="0" rIns="0" bIns="0">
            <a:spAutoFit/>
          </a:bodyPr>
          <a:lstStyle/>
          <a:p>
            <a:pPr>
              <a:spcAft>
                <a:spcPts val="300"/>
              </a:spcAft>
            </a:pPr>
            <a:r>
              <a:rPr sz="1500" b="1">
                <a:solidFill>
                  <a:srgbClr val="FFFFFF"/>
                </a:solidFill>
                <a:latin typeface="Segoe UI"/>
              </a:rPr>
              <a:t>J. Christopher Westland</a:t>
            </a:r>
          </a:p>
          <a:p>
            <a:pPr>
              <a:spcAft>
                <a:spcPts val="200"/>
              </a:spcAft>
            </a:pPr>
            <a:r>
              <a:rPr sz="1100" b="1">
                <a:solidFill>
                  <a:srgbClr val="FF5900"/>
                </a:solidFill>
                <a:latin typeface="Segoe UI"/>
              </a:rPr>
              <a:t>Fulbright-García Robles U.S. Scholar (Science and Technology)</a:t>
            </a:r>
          </a:p>
          <a:p>
            <a:pPr>
              <a:spcAft>
                <a:spcPts val="200"/>
              </a:spcAft>
            </a:pPr>
            <a:r>
              <a:rPr sz="1050">
                <a:solidFill>
                  <a:srgbClr val="F5EDE4"/>
                </a:solidFill>
                <a:latin typeface="Segoe UI"/>
              </a:rPr>
              <a:t>hosted by Universidad Anáhuac Mayab | Mérida, México</a:t>
            </a:r>
          </a:p>
          <a:p>
            <a:pPr>
              <a:spcAft>
                <a:spcPts val="200"/>
              </a:spcAft>
            </a:pPr>
            <a:r>
              <a:rPr sz="1050">
                <a:solidFill>
                  <a:srgbClr val="F5EDE4"/>
                </a:solidFill>
                <a:latin typeface="Segoe UI"/>
              </a:rPr>
              <a:t>Professor, Information &amp; Decision Sciences | University of Illinois Chicago</a:t>
            </a:r>
          </a:p>
          <a:p>
            <a:pPr>
              <a:spcAft>
                <a:spcPts val="300"/>
              </a:spcAft>
            </a:pPr>
            <a:r>
              <a:rPr sz="1000">
                <a:solidFill>
                  <a:srgbClr val="DCD2C8"/>
                </a:solidFill>
                <a:latin typeface="Segoe UI"/>
              </a:rPr>
              <a:t>Editor-in-Chief: Electronic Commerce Research (Springer)</a:t>
            </a:r>
          </a:p>
          <a:p>
            <a:r>
              <a:rPr sz="950">
                <a:solidFill>
                  <a:srgbClr val="C8BEB4"/>
                </a:solidFill>
                <a:latin typeface="Segoe UI"/>
              </a:rPr>
              <a:t>Faculty Profile: </a:t>
            </a:r>
            <a:r>
              <a:rPr sz="950" u="sng">
                <a:solidFill>
                  <a:srgbClr val="FF5900"/>
                </a:solidFill>
                <a:latin typeface="Segoe UI"/>
                <a:hlinkClick r:id="rId3"/>
              </a:rPr>
              <a:t>business.uic.edu/profiles/westland-james-christopher</a:t>
            </a:r>
          </a:p>
        </p:txBody>
      </p:sp>
      <p:sp>
        <p:nvSpPr>
          <p:cNvPr id="11" name="Rectangle 10"/>
          <p:cNvSpPr/>
          <p:nvPr/>
        </p:nvSpPr>
        <p:spPr>
          <a:xfrm>
            <a:off x="7315200" y="3429000"/>
            <a:ext cx="18288" cy="2423160"/>
          </a:xfrm>
          <a:prstGeom prst="rect">
            <a:avLst/>
          </a:prstGeom>
          <a:solidFill>
            <a:srgbClr val="63381B"/>
          </a:solidFill>
          <a:ln>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3364992"/>
            <a:ext cx="3108960" cy="2542032"/>
          </a:xfrm>
          <a:prstGeom prst="rect">
            <a:avLst/>
          </a:prstGeom>
          <a:noFill/>
        </p:spPr>
        <p:txBody>
          <a:bodyPr wrap="square" lIns="0" tIns="0" rIns="0" bIns="0">
            <a:spAutoFit/>
          </a:bodyPr>
          <a:lstStyle/>
          <a:p>
            <a:pPr>
              <a:spcAft>
                <a:spcPts val="300"/>
              </a:spcAft>
            </a:pPr>
            <a:r>
              <a:rPr sz="1000" b="1">
                <a:solidFill>
                  <a:srgbClr val="FF5900"/>
                </a:solidFill>
                <a:latin typeface="Segoe UI"/>
              </a:rPr>
              <a:t>EMPIRICAL RESEARCH</a:t>
            </a:r>
          </a:p>
          <a:p>
            <a:pPr>
              <a:spcAft>
                <a:spcPts val="100"/>
              </a:spcAft>
            </a:pPr>
            <a:r>
              <a:rPr sz="950">
                <a:solidFill>
                  <a:srgbClr val="F5EDE4"/>
                </a:solidFill>
                <a:latin typeface="Segoe UI"/>
              </a:rPr>
              <a:t>Based on empirical research by:</a:t>
            </a:r>
          </a:p>
          <a:p>
            <a:pPr>
              <a:spcAft>
                <a:spcPts val="300"/>
              </a:spcAft>
            </a:pPr>
            <a:r>
              <a:rPr sz="1050" b="1">
                <a:solidFill>
                  <a:srgbClr val="FFFFFF"/>
                </a:solidFill>
                <a:latin typeface="Segoe UI"/>
              </a:rPr>
              <a:t>Fabiha Jalal &amp; J. Christopher Westland</a:t>
            </a:r>
          </a:p>
          <a:p>
            <a:pPr>
              <a:spcAft>
                <a:spcPts val="800"/>
              </a:spcAft>
            </a:pPr>
            <a:r>
              <a:rPr sz="900" i="1">
                <a:solidFill>
                  <a:srgbClr val="C3B4A8"/>
                </a:solidFill>
                <a:latin typeface="Segoe UI"/>
              </a:rPr>
              <a:t>"The Limits of Blockchain Forensics: Deconstructing the Mythologies of Automated Governance"</a:t>
            </a:r>
          </a:p>
          <a:p>
            <a:r>
              <a:rPr sz="900" b="1">
                <a:solidFill>
                  <a:srgbClr val="FFFFFF"/>
                </a:solidFill>
                <a:latin typeface="Segoe UI"/>
              </a:rPr>
              <a:t>© J. Christopher Westland. All rights reserved.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COURSE OVERVIEW</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Lecture Structure and Thematic Roadmap</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02/24</a:t>
            </a:r>
          </a:p>
        </p:txBody>
      </p:sp>
      <p:sp>
        <p:nvSpPr>
          <p:cNvPr id="9" name="Rounded Rectangle 8"/>
          <p:cNvSpPr/>
          <p:nvPr/>
        </p:nvSpPr>
        <p:spPr>
          <a:xfrm>
            <a:off x="731520" y="1554480"/>
            <a:ext cx="3328416"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2962656" cy="4206240"/>
          </a:xfrm>
          <a:prstGeom prst="rect">
            <a:avLst/>
          </a:prstGeom>
          <a:noFill/>
        </p:spPr>
        <p:txBody>
          <a:bodyPr wrap="square">
            <a:spAutoFit/>
          </a:bodyPr>
          <a:lstStyle/>
          <a:p>
            <a:pPr>
              <a:spcAft>
                <a:spcPts val="1200"/>
              </a:spcAft>
              <a:defRPr sz="1400" b="1">
                <a:solidFill>
                  <a:srgbClr val="DA4100"/>
                </a:solidFill>
              </a:defRPr>
            </a:pPr>
            <a:r>
              <a:t>1. Protocol &amp; Mining Architecture</a:t>
            </a:r>
          </a:p>
          <a:p>
            <a:pPr>
              <a:spcAft>
                <a:spcPts val="700"/>
              </a:spcAft>
            </a:pPr>
            <a:r>
              <a:rPr b="1" sz="1050">
                <a:solidFill>
                  <a:srgbClr val="DA4100"/>
                </a:solidFill>
                <a:latin typeface="Segoe UI"/>
              </a:rPr>
              <a:t>• The Blockchain: </a:t>
            </a:r>
            <a:r>
              <a:rPr b="0" sz="1050">
                <a:solidFill>
                  <a:srgbClr val="21140E"/>
                </a:solidFill>
                <a:latin typeface="Segoe UI"/>
              </a:rPr>
              <a:t>Distributed Ledger Technology (DLT) &amp; immutability.</a:t>
            </a:r>
          </a:p>
          <a:p>
            <a:pPr>
              <a:spcAft>
                <a:spcPts val="700"/>
              </a:spcAft>
            </a:pPr>
            <a:r>
              <a:rPr b="1" sz="1050">
                <a:solidFill>
                  <a:srgbClr val="DA4100"/>
                </a:solidFill>
                <a:latin typeface="Segoe UI"/>
              </a:rPr>
              <a:t>• Block Addition: </a:t>
            </a:r>
            <a:r>
              <a:rPr b="0" sz="1050">
                <a:solidFill>
                  <a:srgbClr val="21140E"/>
                </a:solidFill>
                <a:latin typeface="Segoe UI"/>
              </a:rPr>
              <a:t>Mempool, Merkle trees, mining, and validation.</a:t>
            </a:r>
          </a:p>
          <a:p>
            <a:pPr>
              <a:spcAft>
                <a:spcPts val="700"/>
              </a:spcAft>
            </a:pPr>
            <a:r>
              <a:rPr b="1" sz="1050">
                <a:solidFill>
                  <a:srgbClr val="DA4100"/>
                </a:solidFill>
                <a:latin typeface="Segoe UI"/>
              </a:rPr>
              <a:t>• P2P Network &amp; Consensus: </a:t>
            </a:r>
            <a:r>
              <a:rPr b="0" sz="1050">
                <a:solidFill>
                  <a:srgbClr val="21140E"/>
                </a:solidFill>
                <a:latin typeface="Segoe UI"/>
              </a:rPr>
              <a:t>Gossip protocol, longest-chain rule, BIPs &amp; forks.</a:t>
            </a:r>
          </a:p>
          <a:p>
            <a:pPr>
              <a:spcAft>
                <a:spcPts val="700"/>
              </a:spcAft>
            </a:pPr>
            <a:r>
              <a:rPr b="1" sz="1050">
                <a:solidFill>
                  <a:srgbClr val="DA4100"/>
                </a:solidFill>
                <a:latin typeface="Segoe UI"/>
              </a:rPr>
              <a:t>• Mining Economics: </a:t>
            </a:r>
            <a:r>
              <a:rPr b="0" sz="1050">
                <a:solidFill>
                  <a:srgbClr val="21140E"/>
                </a:solidFill>
                <a:latin typeface="Segoe UI"/>
              </a:rPr>
              <a:t>Geography, hashrate, halving &amp; altcoin mortality (~7,000+).</a:t>
            </a:r>
          </a:p>
          <a:p>
            <a:pPr>
              <a:spcAft>
                <a:spcPts val="700"/>
              </a:spcAft>
            </a:pPr>
            <a:r>
              <a:rPr b="1" sz="1050">
                <a:solidFill>
                  <a:srgbClr val="DA4100"/>
                </a:solidFill>
                <a:latin typeface="Segoe UI"/>
              </a:rPr>
              <a:t>• Price-Volume Series: </a:t>
            </a:r>
            <a:r>
              <a:rPr b="0" sz="1050">
                <a:solidFill>
                  <a:srgbClr val="21140E"/>
                </a:solidFill>
                <a:latin typeface="Segoe UI"/>
              </a:rPr>
              <a:t>OHLCV candlestick reading and investor decisions.</a:t>
            </a:r>
          </a:p>
          <a:p>
            <a:pPr>
              <a:spcAft>
                <a:spcPts val="700"/>
              </a:spcAft>
            </a:pPr>
            <a:r>
              <a:rPr b="1" sz="1050">
                <a:solidFill>
                  <a:srgbClr val="DA4100"/>
                </a:solidFill>
                <a:latin typeface="Segoe UI"/>
              </a:rPr>
              <a:t>• Wallets &amp; Fiat Rails: </a:t>
            </a:r>
            <a:r>
              <a:rPr b="0" sz="1050">
                <a:solidFill>
                  <a:srgbClr val="21140E"/>
                </a:solidFill>
                <a:latin typeface="Segoe UI"/>
              </a:rPr>
              <a:t>Cryptographic custody, On/Off-ramps, and banks.</a:t>
            </a:r>
          </a:p>
        </p:txBody>
      </p:sp>
      <p:sp>
        <p:nvSpPr>
          <p:cNvPr id="11" name="Rounded Rectangle 10"/>
          <p:cNvSpPr/>
          <p:nvPr/>
        </p:nvSpPr>
        <p:spPr>
          <a:xfrm>
            <a:off x="4425696" y="1554480"/>
            <a:ext cx="3328416"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737360"/>
            <a:ext cx="2962656" cy="4206240"/>
          </a:xfrm>
          <a:prstGeom prst="rect">
            <a:avLst/>
          </a:prstGeom>
          <a:noFill/>
        </p:spPr>
        <p:txBody>
          <a:bodyPr wrap="square">
            <a:spAutoFit/>
          </a:bodyPr>
          <a:lstStyle/>
          <a:p>
            <a:pPr>
              <a:spcAft>
                <a:spcPts val="1200"/>
              </a:spcAft>
              <a:defRPr sz="1400" b="1">
                <a:solidFill>
                  <a:srgbClr val="FF5900"/>
                </a:solidFill>
              </a:defRPr>
            </a:pPr>
            <a:r>
              <a:t>2. Microstructure &amp; Markets</a:t>
            </a:r>
          </a:p>
          <a:p>
            <a:pPr>
              <a:spcAft>
                <a:spcPts val="700"/>
              </a:spcAft>
            </a:pPr>
            <a:r>
              <a:rPr b="1" sz="1050">
                <a:solidFill>
                  <a:srgbClr val="FF5900"/>
                </a:solidFill>
                <a:latin typeface="Segoe UI"/>
              </a:rPr>
              <a:t>• The Order Book: </a:t>
            </a:r>
            <a:r>
              <a:rPr b="0" sz="1050">
                <a:solidFill>
                  <a:srgbClr val="F5EDE4"/>
                </a:solidFill>
                <a:latin typeface="Segoe UI"/>
              </a:rPr>
              <a:t>Bids, asks, market depth (DOM), and CEX/DEX matching.</a:t>
            </a:r>
          </a:p>
          <a:p>
            <a:pPr>
              <a:spcAft>
                <a:spcPts val="700"/>
              </a:spcAft>
            </a:pPr>
            <a:r>
              <a:rPr b="1" sz="1050">
                <a:solidFill>
                  <a:srgbClr val="FF5900"/>
                </a:solidFill>
                <a:latin typeface="Segoe UI"/>
              </a:rPr>
              <a:t>• Bid-Ask Spread: </a:t>
            </a:r>
            <a:r>
              <a:rPr b="0" sz="1050">
                <a:solidFill>
                  <a:srgbClr val="F5EDE4"/>
                </a:solidFill>
                <a:latin typeface="Segoe UI"/>
              </a:rPr>
              <a:t>Quantitative liquidity measurement and Amihud ratio.</a:t>
            </a:r>
          </a:p>
          <a:p>
            <a:pPr>
              <a:spcAft>
                <a:spcPts val="700"/>
              </a:spcAft>
            </a:pPr>
            <a:r>
              <a:rPr b="1" sz="1050">
                <a:solidFill>
                  <a:srgbClr val="FF5900"/>
                </a:solidFill>
                <a:latin typeface="Segoe UI"/>
              </a:rPr>
              <a:t>• Derivatives Hegemony: </a:t>
            </a:r>
            <a:r>
              <a:rPr b="0" sz="1050">
                <a:solidFill>
                  <a:srgbClr val="F5EDE4"/>
                </a:solidFill>
                <a:latin typeface="Segoe UI"/>
              </a:rPr>
              <a:t>2/3 of volume in perpetual swaps, futures, and options.</a:t>
            </a:r>
          </a:p>
          <a:p>
            <a:pPr>
              <a:spcAft>
                <a:spcPts val="700"/>
              </a:spcAft>
            </a:pPr>
            <a:r>
              <a:rPr b="1" sz="1050">
                <a:solidFill>
                  <a:srgbClr val="FF5900"/>
                </a:solidFill>
                <a:latin typeface="Segoe UI"/>
              </a:rPr>
              <a:t>• Stablecoin Ecosystem: </a:t>
            </a:r>
            <a:r>
              <a:rPr b="0" sz="1050">
                <a:solidFill>
                  <a:srgbClr val="F5EDE4"/>
                </a:solidFill>
                <a:latin typeface="Segoe UI"/>
              </a:rPr>
              <a:t>USDT, USDC, reserves, corporate governance &amp; supply.</a:t>
            </a:r>
          </a:p>
          <a:p>
            <a:pPr>
              <a:spcAft>
                <a:spcPts val="700"/>
              </a:spcAft>
            </a:pPr>
            <a:r>
              <a:rPr b="1" sz="1050">
                <a:solidFill>
                  <a:srgbClr val="FF5900"/>
                </a:solidFill>
                <a:latin typeface="Segoe UI"/>
              </a:rPr>
              <a:t>• The Trading Hub: </a:t>
            </a:r>
            <a:r>
              <a:rPr b="0" sz="1050">
                <a:solidFill>
                  <a:srgbClr val="F5EDE4"/>
                </a:solidFill>
                <a:latin typeface="Segoe UI"/>
              </a:rPr>
              <a:t>Why active pairs trade against stablecoins, not fiat.</a:t>
            </a:r>
          </a:p>
          <a:p>
            <a:pPr>
              <a:spcAft>
                <a:spcPts val="700"/>
              </a:spcAft>
            </a:pPr>
            <a:r>
              <a:rPr b="1" sz="1050">
                <a:solidFill>
                  <a:srgbClr val="FF5900"/>
                </a:solidFill>
                <a:latin typeface="Segoe UI"/>
              </a:rPr>
              <a:t>• CEX vs DEX Execution: </a:t>
            </a:r>
            <a:r>
              <a:rPr b="0" sz="1050">
                <a:solidFill>
                  <a:srgbClr val="F5EDE4"/>
                </a:solidFill>
                <a:latin typeface="Segoe UI"/>
              </a:rPr>
              <a:t>Off-chain order books vs. on-chain AMMs (x·y=k).</a:t>
            </a:r>
          </a:p>
        </p:txBody>
      </p:sp>
      <p:sp>
        <p:nvSpPr>
          <p:cNvPr id="13" name="Rounded Rectangle 12"/>
          <p:cNvSpPr/>
          <p:nvPr/>
        </p:nvSpPr>
        <p:spPr>
          <a:xfrm>
            <a:off x="8119872" y="1554480"/>
            <a:ext cx="3328416" cy="4572000"/>
          </a:xfrm>
          <a:prstGeom prst="roundRect">
            <a:avLst>
              <a:gd name="adj" fmla="val 4000"/>
            </a:avLst>
          </a:prstGeom>
          <a:solidFill>
            <a:srgbClr val="FFFFFF"/>
          </a:solidFill>
          <a:ln w="22860">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737360"/>
            <a:ext cx="2962656" cy="4206240"/>
          </a:xfrm>
          <a:prstGeom prst="rect">
            <a:avLst/>
          </a:prstGeom>
          <a:noFill/>
        </p:spPr>
        <p:txBody>
          <a:bodyPr wrap="square">
            <a:spAutoFit/>
          </a:bodyPr>
          <a:lstStyle/>
          <a:p>
            <a:pPr>
              <a:spcAft>
                <a:spcPts val="1200"/>
              </a:spcAft>
              <a:defRPr sz="1400" b="1">
                <a:solidFill>
                  <a:srgbClr val="3D2314"/>
                </a:solidFill>
              </a:defRPr>
            </a:pPr>
            <a:r>
              <a:t>3. Forensics &amp; Empirical Paper</a:t>
            </a:r>
          </a:p>
          <a:p>
            <a:pPr>
              <a:spcAft>
                <a:spcPts val="700"/>
              </a:spcAft>
            </a:pPr>
            <a:r>
              <a:rPr b="1" sz="1050">
                <a:solidFill>
                  <a:srgbClr val="3D2314"/>
                </a:solidFill>
                <a:latin typeface="Segoe UI"/>
              </a:rPr>
              <a:t>• Illicit Flow Migration: </a:t>
            </a:r>
            <a:r>
              <a:rPr b="0" sz="1050">
                <a:solidFill>
                  <a:srgbClr val="21140E"/>
                </a:solidFill>
                <a:latin typeface="Segoe UI"/>
              </a:rPr>
              <a:t>From volatile Bitcoin to high-liquidity stablecoins.</a:t>
            </a:r>
          </a:p>
          <a:p>
            <a:pPr>
              <a:spcAft>
                <a:spcPts val="700"/>
              </a:spcAft>
            </a:pPr>
            <a:r>
              <a:rPr b="1" sz="1050">
                <a:solidFill>
                  <a:srgbClr val="3D2314"/>
                </a:solidFill>
                <a:latin typeface="Segoe UI"/>
              </a:rPr>
              <a:t>• RQ1 (Trees vs GNNs): </a:t>
            </a:r>
            <a:r>
              <a:rPr b="0" sz="1050">
                <a:solidFill>
                  <a:srgbClr val="21140E"/>
                </a:solidFill>
                <a:latin typeface="Segoe UI"/>
              </a:rPr>
              <a:t>Simple tabular trees match or beat complex graph models.</a:t>
            </a:r>
          </a:p>
          <a:p>
            <a:pPr>
              <a:spcAft>
                <a:spcPts val="700"/>
              </a:spcAft>
            </a:pPr>
            <a:r>
              <a:rPr b="1" sz="1050">
                <a:solidFill>
                  <a:srgbClr val="3D2314"/>
                </a:solidFill>
                <a:latin typeface="Segoe UI"/>
              </a:rPr>
              <a:t>• RQ2 (The Price Null): </a:t>
            </a:r>
            <a:r>
              <a:rPr b="0" sz="1050">
                <a:solidFill>
                  <a:srgbClr val="21140E"/>
                </a:solidFill>
                <a:latin typeface="Segoe UI"/>
              </a:rPr>
              <a:t>Illicit flows fail to predict prices or market volatility.</a:t>
            </a:r>
          </a:p>
          <a:p>
            <a:pPr>
              <a:spcAft>
                <a:spcPts val="700"/>
              </a:spcAft>
            </a:pPr>
            <a:r>
              <a:rPr b="1" sz="1050">
                <a:solidFill>
                  <a:srgbClr val="3D2314"/>
                </a:solidFill>
                <a:latin typeface="Segoe UI"/>
              </a:rPr>
              <a:t>• RQ3 (Base-Rate Fallacy): </a:t>
            </a:r>
            <a:r>
              <a:rPr b="0" sz="1050">
                <a:solidFill>
                  <a:srgbClr val="21140E"/>
                </a:solidFill>
                <a:latin typeface="Segoe UI"/>
              </a:rPr>
              <a:t>40k-116k false alarms per catch: triage vs alarms.</a:t>
            </a:r>
          </a:p>
          <a:p>
            <a:pPr>
              <a:spcAft>
                <a:spcPts val="700"/>
              </a:spcAft>
            </a:pPr>
            <a:r>
              <a:rPr b="1" sz="1050">
                <a:solidFill>
                  <a:srgbClr val="3D2314"/>
                </a:solidFill>
                <a:latin typeface="Segoe UI"/>
              </a:rPr>
              <a:t>• RQ4 (DEX Wash Trading): </a:t>
            </a:r>
            <a:r>
              <a:rPr b="0" sz="1050">
                <a:solidFill>
                  <a:srgbClr val="21140E"/>
                </a:solidFill>
                <a:latin typeface="Segoe UI"/>
              </a:rPr>
              <a:t>Behavioral screening pipeline &amp; the Wash-Discount metric.</a:t>
            </a:r>
          </a:p>
          <a:p>
            <a:pPr>
              <a:spcAft>
                <a:spcPts val="700"/>
              </a:spcAft>
            </a:pPr>
            <a:r>
              <a:rPr b="1" sz="1050">
                <a:solidFill>
                  <a:srgbClr val="3D2314"/>
                </a:solidFill>
                <a:latin typeface="Segoe UI"/>
              </a:rPr>
              <a:t>• Label Staleness Crisis: </a:t>
            </a:r>
            <a:r>
              <a:rPr b="0" sz="1050">
                <a:solidFill>
                  <a:srgbClr val="21140E"/>
                </a:solidFill>
                <a:latin typeface="Segoe UI"/>
              </a:rPr>
              <a:t>2-year half-life of illicit public address labels.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DIGITAL ASSET FOUNDATIONS</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What is Blockchain? Distributed Ledger Architecture</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03/24</a:t>
            </a:r>
          </a:p>
        </p:txBody>
      </p:sp>
      <p:sp>
        <p:nvSpPr>
          <p:cNvPr id="9" name="Rounded Rectangle 8"/>
          <p:cNvSpPr/>
          <p:nvPr/>
        </p:nvSpPr>
        <p:spPr>
          <a:xfrm>
            <a:off x="731520" y="1554480"/>
            <a:ext cx="539496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737360"/>
            <a:ext cx="4937760" cy="4114800"/>
          </a:xfrm>
          <a:prstGeom prst="rect">
            <a:avLst/>
          </a:prstGeom>
          <a:noFill/>
        </p:spPr>
        <p:txBody>
          <a:bodyPr wrap="square">
            <a:spAutoFit/>
          </a:bodyPr>
          <a:lstStyle/>
          <a:p>
            <a:pPr>
              <a:spcAft>
                <a:spcPts val="1200"/>
              </a:spcAft>
              <a:defRPr sz="1600" b="1">
                <a:solidFill>
                  <a:srgbClr val="DA4100"/>
                </a:solidFill>
              </a:defRPr>
            </a:pPr>
            <a:r>
              <a:t>Definition &amp; Core Operating Principles</a:t>
            </a:r>
          </a:p>
          <a:p>
            <a:pPr>
              <a:spcAft>
                <a:spcPts val="1000"/>
              </a:spcAft>
            </a:pPr>
            <a:r>
              <a:rPr b="1" sz="1150">
                <a:solidFill>
                  <a:srgbClr val="DA4100"/>
                </a:solidFill>
                <a:latin typeface="Segoe UI"/>
              </a:rPr>
              <a:t>• Distributed Ledger Technology (DLT): </a:t>
            </a:r>
            <a:r>
              <a:rPr b="0" sz="1150">
                <a:solidFill>
                  <a:srgbClr val="21140E"/>
                </a:solidFill>
                <a:latin typeface="Segoe UI"/>
              </a:rPr>
              <a:t>A decentralized database synchronized and replicated across a peer-to-peer (P2P) network without a central clearing authority.</a:t>
            </a:r>
          </a:p>
          <a:p>
            <a:pPr>
              <a:spcAft>
                <a:spcPts val="1000"/>
              </a:spcAft>
            </a:pPr>
            <a:r>
              <a:rPr b="1" sz="1150">
                <a:solidFill>
                  <a:srgbClr val="DA4100"/>
                </a:solidFill>
                <a:latin typeface="Segoe UI"/>
              </a:rPr>
              <a:t>• Cryptographic Immutability: </a:t>
            </a:r>
            <a:r>
              <a:rPr b="0" sz="1150">
                <a:solidFill>
                  <a:srgbClr val="21140E"/>
                </a:solidFill>
                <a:latin typeface="Segoe UI"/>
              </a:rPr>
              <a:t>Each block embeds the hash of the preceding block. Retroactively altering past records requires recalculating all downstream proof-of-work/stake across the entire network.</a:t>
            </a:r>
          </a:p>
          <a:p>
            <a:pPr>
              <a:spcAft>
                <a:spcPts val="1000"/>
              </a:spcAft>
            </a:pPr>
            <a:r>
              <a:rPr b="1" sz="1150">
                <a:solidFill>
                  <a:srgbClr val="DA4100"/>
                </a:solidFill>
                <a:latin typeface="Segoe UI"/>
              </a:rPr>
              <a:t>• Decentralized &amp; 'Trustless': </a:t>
            </a:r>
            <a:r>
              <a:rPr b="0" sz="1150">
                <a:solidFill>
                  <a:srgbClr val="21140E"/>
                </a:solidFill>
                <a:latin typeface="Segoe UI"/>
              </a:rPr>
              <a:t>No reliance on financial intermediaries or central custodians. Ledger state validity is established purely through algorithmic consensus.</a:t>
            </a:r>
          </a:p>
          <a:p>
            <a:pPr>
              <a:spcAft>
                <a:spcPts val="1000"/>
              </a:spcAft>
            </a:pPr>
            <a:r>
              <a:rPr b="1" sz="1150">
                <a:solidFill>
                  <a:srgbClr val="DA4100"/>
                </a:solidFill>
                <a:latin typeface="Segoe UI"/>
              </a:rPr>
              <a:t>• Pseudonymous Transparency: </a:t>
            </a:r>
            <a:r>
              <a:rPr b="0" sz="1150">
                <a:solidFill>
                  <a:srgbClr val="21140E"/>
                </a:solidFill>
                <a:latin typeface="Segoe UI"/>
              </a:rPr>
              <a:t>All transaction records, account balances, and historical transfers are permanently visible on public block explorers, tied to cryptographic addresses.</a:t>
            </a:r>
          </a:p>
        </p:txBody>
      </p:sp>
      <p:sp>
        <p:nvSpPr>
          <p:cNvPr id="11" name="Rounded Rectangle 10"/>
          <p:cNvSpPr/>
          <p:nvPr/>
        </p:nvSpPr>
        <p:spPr>
          <a:xfrm>
            <a:off x="6400800" y="1554480"/>
            <a:ext cx="502920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1737360"/>
            <a:ext cx="4572000" cy="4114800"/>
          </a:xfrm>
          <a:prstGeom prst="rect">
            <a:avLst/>
          </a:prstGeom>
          <a:noFill/>
        </p:spPr>
        <p:txBody>
          <a:bodyPr wrap="square">
            <a:spAutoFit/>
          </a:bodyPr>
          <a:lstStyle/>
          <a:p>
            <a:pPr>
              <a:spcAft>
                <a:spcPts val="1200"/>
              </a:spcAft>
              <a:defRPr sz="1600" b="1">
                <a:solidFill>
                  <a:srgbClr val="FF5900"/>
                </a:solidFill>
              </a:defRPr>
            </a:pPr>
            <a:r>
              <a:t>Essential Technological Pillars</a:t>
            </a:r>
          </a:p>
          <a:p>
            <a:pPr>
              <a:spcAft>
                <a:spcPts val="900"/>
              </a:spcAft>
            </a:pPr>
            <a:r>
              <a:rPr b="1" sz="1100">
                <a:solidFill>
                  <a:srgbClr val="FF5900"/>
                </a:solidFill>
                <a:latin typeface="Segoe UI"/>
              </a:rPr>
              <a:t>1. Asymmetric Cryptography: </a:t>
            </a:r>
            <a:r>
              <a:rPr b="0" sz="1100">
                <a:solidFill>
                  <a:srgbClr val="F5EDE4"/>
                </a:solidFill>
                <a:latin typeface="Segoe UI"/>
              </a:rPr>
              <a:t>Paired public keys (identity/account) and private keys (digital authorization and transaction signing via ECDSA).</a:t>
            </a:r>
          </a:p>
          <a:p>
            <a:pPr>
              <a:spcAft>
                <a:spcPts val="900"/>
              </a:spcAft>
            </a:pPr>
            <a:r>
              <a:rPr b="1" sz="1100">
                <a:solidFill>
                  <a:srgbClr val="FF5900"/>
                </a:solidFill>
                <a:latin typeface="Segoe UI"/>
              </a:rPr>
              <a:t>2. One-Way Hash Functions: </a:t>
            </a:r>
            <a:r>
              <a:rPr b="0" sz="1100">
                <a:solidFill>
                  <a:srgbClr val="F5EDE4"/>
                </a:solidFill>
                <a:latin typeface="Segoe UI"/>
              </a:rPr>
              <a:t>Deterministic hashing algorithms (SHA-256 in Bitcoin, Keccak-256 in Ethereum) compressing data into fixed, collision-resistant digests.</a:t>
            </a:r>
          </a:p>
          <a:p>
            <a:pPr>
              <a:spcAft>
                <a:spcPts val="900"/>
              </a:spcAft>
            </a:pPr>
            <a:r>
              <a:rPr b="1" sz="1100">
                <a:solidFill>
                  <a:srgbClr val="FF5900"/>
                </a:solidFill>
                <a:latin typeface="Segoe UI"/>
              </a:rPr>
              <a:t>3. Consensus Mechanisms: </a:t>
            </a:r>
            <a:r>
              <a:rPr b="0" sz="1100">
                <a:solidFill>
                  <a:srgbClr val="F5EDE4"/>
                </a:solidFill>
                <a:latin typeface="Segoe UI"/>
              </a:rPr>
              <a:t>Distributed state agreement protocols (Proof of Work in Bitcoin, Proof of Stake in Ethereum) preventing double-spending without central authority.</a:t>
            </a:r>
          </a:p>
          <a:p>
            <a:pPr>
              <a:spcAft>
                <a:spcPts val="900"/>
              </a:spcAft>
            </a:pPr>
            <a:r>
              <a:rPr b="1" sz="1100">
                <a:solidFill>
                  <a:srgbClr val="FF5900"/>
                </a:solidFill>
                <a:latin typeface="Segoe UI"/>
              </a:rPr>
              <a:t>4. P2P Node Protocol: </a:t>
            </a:r>
            <a:r>
              <a:rPr b="0" sz="1100">
                <a:solidFill>
                  <a:srgbClr val="F5EDE4"/>
                </a:solidFill>
                <a:latin typeface="Segoe UI"/>
              </a:rPr>
              <a:t>A global mesh of full nodes independently verifying every transaction and enforcing protocol rules autonomously.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PROTOCOL MECHANICS</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How is a Block Added to the Blockchain? Step-by-Step Lifecycle</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04/24</a:t>
            </a:r>
          </a:p>
        </p:txBody>
      </p:sp>
      <p:sp>
        <p:nvSpPr>
          <p:cNvPr id="9" name="Rounded Rectangle 8"/>
          <p:cNvSpPr/>
          <p:nvPr/>
        </p:nvSpPr>
        <p:spPr>
          <a:xfrm>
            <a:off x="731520" y="1554480"/>
            <a:ext cx="3328416" cy="2057400"/>
          </a:xfrm>
          <a:prstGeom prst="roundRect">
            <a:avLst>
              <a:gd name="adj" fmla="val 4000"/>
            </a:avLst>
          </a:prstGeom>
          <a:solidFill>
            <a:srgbClr val="FFFFFF"/>
          </a:solidFill>
          <a:ln w="1905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691640"/>
            <a:ext cx="2999232" cy="1783080"/>
          </a:xfrm>
          <a:prstGeom prst="rect">
            <a:avLst/>
          </a:prstGeom>
          <a:noFill/>
        </p:spPr>
        <p:txBody>
          <a:bodyPr wrap="square">
            <a:spAutoFit/>
          </a:bodyPr>
          <a:lstStyle/>
          <a:p>
            <a:pPr>
              <a:spcAft>
                <a:spcPts val="800"/>
              </a:spcAft>
              <a:defRPr sz="1300" b="1">
                <a:solidFill>
                  <a:srgbClr val="DA4100"/>
                </a:solidFill>
              </a:defRPr>
            </a:pPr>
            <a:r>
              <a:t>1. Transaction Signing</a:t>
            </a:r>
          </a:p>
          <a:p>
            <a:pPr>
              <a:defRPr sz="1050">
                <a:solidFill>
                  <a:srgbClr val="21140E"/>
                </a:solidFill>
              </a:defRPr>
            </a:pPr>
            <a:r>
              <a:t>User constructs transaction and cryptographically signs it with their private key, broadcasting it to peer nodes.</a:t>
            </a:r>
          </a:p>
        </p:txBody>
      </p:sp>
      <p:sp>
        <p:nvSpPr>
          <p:cNvPr id="11" name="Rounded Rectangle 10"/>
          <p:cNvSpPr/>
          <p:nvPr/>
        </p:nvSpPr>
        <p:spPr>
          <a:xfrm>
            <a:off x="4425696" y="1554480"/>
            <a:ext cx="3328416" cy="2057400"/>
          </a:xfrm>
          <a:prstGeom prst="roundRect">
            <a:avLst>
              <a:gd name="adj" fmla="val 4000"/>
            </a:avLst>
          </a:prstGeom>
          <a:solidFill>
            <a:srgbClr val="3D2314"/>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1691640"/>
            <a:ext cx="2999232" cy="1783080"/>
          </a:xfrm>
          <a:prstGeom prst="rect">
            <a:avLst/>
          </a:prstGeom>
          <a:noFill/>
        </p:spPr>
        <p:txBody>
          <a:bodyPr wrap="square">
            <a:spAutoFit/>
          </a:bodyPr>
          <a:lstStyle/>
          <a:p>
            <a:pPr>
              <a:spcAft>
                <a:spcPts val="800"/>
              </a:spcAft>
              <a:defRPr sz="1300" b="1">
                <a:solidFill>
                  <a:srgbClr val="FF5900"/>
                </a:solidFill>
              </a:defRPr>
            </a:pPr>
            <a:r>
              <a:t>2. Mempool Aggregation</a:t>
            </a:r>
          </a:p>
          <a:p>
            <a:pPr>
              <a:defRPr sz="1050">
                <a:solidFill>
                  <a:srgbClr val="F5EDE4"/>
                </a:solidFill>
              </a:defRPr>
            </a:pPr>
            <a:r>
              <a:t>Unconfirmed transactions enter the memory pool (mempool), prioritized by miners based on transaction fee density.</a:t>
            </a:r>
          </a:p>
        </p:txBody>
      </p:sp>
      <p:sp>
        <p:nvSpPr>
          <p:cNvPr id="13" name="Rounded Rectangle 12"/>
          <p:cNvSpPr/>
          <p:nvPr/>
        </p:nvSpPr>
        <p:spPr>
          <a:xfrm>
            <a:off x="8119872" y="1554480"/>
            <a:ext cx="3328416" cy="2057400"/>
          </a:xfrm>
          <a:prstGeom prst="roundRect">
            <a:avLst>
              <a:gd name="adj" fmla="val 4000"/>
            </a:avLst>
          </a:prstGeom>
          <a:solidFill>
            <a:srgbClr val="FFFFFF"/>
          </a:solidFill>
          <a:ln w="1905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4464" y="1691640"/>
            <a:ext cx="2999232" cy="1783080"/>
          </a:xfrm>
          <a:prstGeom prst="rect">
            <a:avLst/>
          </a:prstGeom>
          <a:noFill/>
        </p:spPr>
        <p:txBody>
          <a:bodyPr wrap="square">
            <a:spAutoFit/>
          </a:bodyPr>
          <a:lstStyle/>
          <a:p>
            <a:pPr>
              <a:spcAft>
                <a:spcPts val="800"/>
              </a:spcAft>
              <a:defRPr sz="1300" b="1">
                <a:solidFill>
                  <a:srgbClr val="DA4100"/>
                </a:solidFill>
              </a:defRPr>
            </a:pPr>
            <a:r>
              <a:t>3. Block Packaging &amp; Merkle Tree</a:t>
            </a:r>
          </a:p>
          <a:p>
            <a:pPr>
              <a:defRPr sz="1050">
                <a:solidFill>
                  <a:srgbClr val="21140E"/>
                </a:solidFill>
              </a:defRPr>
            </a:pPr>
            <a:r>
              <a:t>Miners/validators batch transactions and compute the cryptographic Merkle Root stored in the block header.</a:t>
            </a:r>
          </a:p>
        </p:txBody>
      </p:sp>
      <p:sp>
        <p:nvSpPr>
          <p:cNvPr id="15" name="Rounded Rectangle 14"/>
          <p:cNvSpPr/>
          <p:nvPr/>
        </p:nvSpPr>
        <p:spPr>
          <a:xfrm>
            <a:off x="731520" y="3931920"/>
            <a:ext cx="3328416" cy="2057400"/>
          </a:xfrm>
          <a:prstGeom prst="roundRect">
            <a:avLst>
              <a:gd name="adj" fmla="val 4000"/>
            </a:avLst>
          </a:prstGeom>
          <a:solidFill>
            <a:srgbClr val="3D2314"/>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4069080"/>
            <a:ext cx="2999232" cy="1783080"/>
          </a:xfrm>
          <a:prstGeom prst="rect">
            <a:avLst/>
          </a:prstGeom>
          <a:noFill/>
        </p:spPr>
        <p:txBody>
          <a:bodyPr wrap="square">
            <a:spAutoFit/>
          </a:bodyPr>
          <a:lstStyle/>
          <a:p>
            <a:pPr>
              <a:spcAft>
                <a:spcPts val="800"/>
              </a:spcAft>
              <a:defRPr sz="1300" b="1">
                <a:solidFill>
                  <a:srgbClr val="FF5900"/>
                </a:solidFill>
              </a:defRPr>
            </a:pPr>
            <a:r>
              <a:t>4. Consensus Execution</a:t>
            </a:r>
          </a:p>
          <a:p>
            <a:pPr>
              <a:defRPr sz="1050">
                <a:solidFill>
                  <a:srgbClr val="F5EDE4"/>
                </a:solidFill>
              </a:defRPr>
            </a:pPr>
            <a:r>
              <a:t>PoW solves cryptographic difficulty puzzles (Nonce); PoS selects validators proportional to economic stake.</a:t>
            </a:r>
          </a:p>
        </p:txBody>
      </p:sp>
      <p:sp>
        <p:nvSpPr>
          <p:cNvPr id="17" name="Rounded Rectangle 16"/>
          <p:cNvSpPr/>
          <p:nvPr/>
        </p:nvSpPr>
        <p:spPr>
          <a:xfrm>
            <a:off x="4425696" y="3931920"/>
            <a:ext cx="3328416" cy="2057400"/>
          </a:xfrm>
          <a:prstGeom prst="roundRect">
            <a:avLst>
              <a:gd name="adj" fmla="val 4000"/>
            </a:avLst>
          </a:prstGeom>
          <a:solidFill>
            <a:srgbClr val="FFFFFF"/>
          </a:solidFill>
          <a:ln w="1905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0288" y="4069080"/>
            <a:ext cx="2999232" cy="1783080"/>
          </a:xfrm>
          <a:prstGeom prst="rect">
            <a:avLst/>
          </a:prstGeom>
          <a:noFill/>
        </p:spPr>
        <p:txBody>
          <a:bodyPr wrap="square">
            <a:spAutoFit/>
          </a:bodyPr>
          <a:lstStyle/>
          <a:p>
            <a:pPr>
              <a:spcAft>
                <a:spcPts val="800"/>
              </a:spcAft>
              <a:defRPr sz="1300" b="1">
                <a:solidFill>
                  <a:srgbClr val="DA4100"/>
                </a:solidFill>
              </a:defRPr>
            </a:pPr>
            <a:r>
              <a:t>5. Cryptographic Block Chaining</a:t>
            </a:r>
          </a:p>
          <a:p>
            <a:pPr>
              <a:defRPr sz="1050">
                <a:solidFill>
                  <a:srgbClr val="21140E"/>
                </a:solidFill>
              </a:defRPr>
            </a:pPr>
            <a:r>
              <a:t>The block header embeds the previous block's hash (H_{t-1}), mathematically linking it to the historical chain.</a:t>
            </a:r>
          </a:p>
        </p:txBody>
      </p:sp>
      <p:sp>
        <p:nvSpPr>
          <p:cNvPr id="19" name="Rounded Rectangle 18"/>
          <p:cNvSpPr/>
          <p:nvPr/>
        </p:nvSpPr>
        <p:spPr>
          <a:xfrm>
            <a:off x="8119872" y="3931920"/>
            <a:ext cx="3328416" cy="2057400"/>
          </a:xfrm>
          <a:prstGeom prst="roundRect">
            <a:avLst>
              <a:gd name="adj" fmla="val 4000"/>
            </a:avLst>
          </a:prstGeom>
          <a:solidFill>
            <a:srgbClr val="3D2314"/>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84464" y="4069080"/>
            <a:ext cx="2999232" cy="1783080"/>
          </a:xfrm>
          <a:prstGeom prst="rect">
            <a:avLst/>
          </a:prstGeom>
          <a:noFill/>
        </p:spPr>
        <p:txBody>
          <a:bodyPr wrap="square">
            <a:spAutoFit/>
          </a:bodyPr>
          <a:lstStyle/>
          <a:p>
            <a:pPr>
              <a:spcAft>
                <a:spcPts val="800"/>
              </a:spcAft>
              <a:defRPr sz="1300" b="1">
                <a:solidFill>
                  <a:srgbClr val="FF5900"/>
                </a:solidFill>
              </a:defRPr>
            </a:pPr>
            <a:r>
              <a:t>6. Global Propagation &amp; Finality</a:t>
            </a:r>
          </a:p>
          <a:p>
            <a:pPr>
              <a:defRPr sz="1050">
                <a:solidFill>
                  <a:srgbClr val="F5EDE4"/>
                </a:solidFill>
              </a:defRPr>
            </a:pPr>
            <a:r>
              <a:t>The new block is broadcast across P2P nodes. Each node validates all signatures and appends it to its local ledger.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NETWORK TOPOLOGY &amp; CONSENSUS</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The P2P Network, Node Gossip &amp; How Miners Update the Ledger</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05/24</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P2P Network Dynamics &amp; Agreement Rules</a:t>
            </a:r>
          </a:p>
          <a:p>
            <a:pPr>
              <a:spcAft>
                <a:spcPts val="800"/>
              </a:spcAft>
            </a:pPr>
            <a:r>
              <a:rPr b="1" sz="1100">
                <a:solidFill>
                  <a:srgbClr val="DA4100"/>
                </a:solidFill>
                <a:latin typeface="Segoe UI"/>
              </a:rPr>
              <a:t>• Mesh Gossip Protocol: </a:t>
            </a:r>
            <a:r>
              <a:rPr b="0" sz="1100">
                <a:solidFill>
                  <a:srgbClr val="21140E"/>
                </a:solidFill>
                <a:latin typeface="Segoe UI"/>
              </a:rPr>
              <a:t>Nodes discover peer IP addresses and broadcast transactions and blocks epidemically. Every node forwards valid data to ~8-12 peers, ensuring global propagation in seconds without central routers.</a:t>
            </a:r>
          </a:p>
          <a:p>
            <a:pPr>
              <a:spcAft>
                <a:spcPts val="800"/>
              </a:spcAft>
            </a:pPr>
            <a:r>
              <a:rPr b="1" sz="1100">
                <a:solidFill>
                  <a:srgbClr val="DA4100"/>
                </a:solidFill>
                <a:latin typeface="Segoe UI"/>
              </a:rPr>
              <a:t>• Nakamoto Consensus &amp; Longest Chain Rule: </a:t>
            </a:r>
            <a:r>
              <a:rPr b="0" sz="1100">
                <a:solidFill>
                  <a:srgbClr val="21140E"/>
                </a:solidFill>
                <a:latin typeface="Segoe UI"/>
              </a:rPr>
              <a:t>Miners make agreements mathematically: nodes always accept and build upon the chain with the **greatest cumulative Proof-of-Work difficulty** ('heaviest chain').</a:t>
            </a:r>
          </a:p>
          <a:p>
            <a:pPr>
              <a:spcAft>
                <a:spcPts val="800"/>
              </a:spcAft>
            </a:pPr>
            <a:r>
              <a:rPr b="1" sz="1100">
                <a:solidFill>
                  <a:srgbClr val="DA4100"/>
                </a:solidFill>
                <a:latin typeface="Segoe UI"/>
              </a:rPr>
              <a:t>• Ephemeral Fork Resolution: </a:t>
            </a:r>
            <a:r>
              <a:rPr b="0" sz="1100">
                <a:solidFill>
                  <a:srgbClr val="21140E"/>
                </a:solidFill>
                <a:latin typeface="Segoe UI"/>
              </a:rPr>
              <a:t>If two miners find blocks simultaneously at the same height, nodes track both branches. The tie is broken autonomously as soon as the next block is found on one branch, orphaning the shorter side.</a:t>
            </a:r>
          </a:p>
          <a:p>
            <a:pPr>
              <a:spcAft>
                <a:spcPts val="800"/>
              </a:spcAft>
            </a:pPr>
            <a:r>
              <a:rPr b="1" sz="1100">
                <a:solidFill>
                  <a:srgbClr val="DA4100"/>
                </a:solidFill>
                <a:latin typeface="Segoe UI"/>
              </a:rPr>
              <a:t>• Full Nodes vs. Miners (Sovereignty): </a:t>
            </a:r>
            <a:r>
              <a:rPr b="0" sz="1100">
                <a:solidFill>
                  <a:srgbClr val="21140E"/>
                </a:solidFill>
                <a:latin typeface="Segoe UI"/>
              </a:rPr>
              <a:t>Miners propose blocks, but **non-mining full nodes enforce the rules**. If a mining pool with 60% hashrate creates an invalid block (e.g., spending unowned coins), every full node instantly rejects it.</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How the Network Agrees on Upgrades</a:t>
            </a:r>
          </a:p>
          <a:p>
            <a:pPr>
              <a:spcAft>
                <a:spcPts val="750"/>
              </a:spcAft>
            </a:pPr>
            <a:r>
              <a:rPr b="1" sz="1050">
                <a:solidFill>
                  <a:srgbClr val="FF5900"/>
                </a:solidFill>
                <a:latin typeface="Segoe UI"/>
              </a:rPr>
              <a:t>1. Improvement Proposals (BIPs &amp; EIPs): </a:t>
            </a:r>
            <a:r>
              <a:rPr b="0" sz="1050">
                <a:solidFill>
                  <a:srgbClr val="F5EDE4"/>
                </a:solidFill>
                <a:latin typeface="Segoe UI"/>
              </a:rPr>
              <a:t>Formalized open-source architectural specifications (e.g., BIP-141 SegWit, BIP-340 Taproot, EIP-1559 burn) debated through peer review and developer rough consensus.</a:t>
            </a:r>
          </a:p>
          <a:p>
            <a:pPr>
              <a:spcAft>
                <a:spcPts val="750"/>
              </a:spcAft>
            </a:pPr>
            <a:r>
              <a:rPr b="1" sz="1050">
                <a:solidFill>
                  <a:srgbClr val="FF5900"/>
                </a:solidFill>
                <a:latin typeface="Segoe UI"/>
              </a:rPr>
              <a:t>2. Miner Signaling Windows (BIP-9): </a:t>
            </a:r>
            <a:r>
              <a:rPr b="0" sz="1050">
                <a:solidFill>
                  <a:srgbClr val="F5EDE4"/>
                </a:solidFill>
                <a:latin typeface="Segoe UI"/>
              </a:rPr>
              <a:t>Miners vote on upgrade readiness by setting designated version bits in mined block headers. Reaching a threshold (e.g., 90% over 2,016 blocks) locks in activation.</a:t>
            </a:r>
          </a:p>
          <a:p>
            <a:pPr>
              <a:spcAft>
                <a:spcPts val="750"/>
              </a:spcAft>
            </a:pPr>
            <a:r>
              <a:rPr b="1" sz="1050">
                <a:solidFill>
                  <a:srgbClr val="FF5900"/>
                </a:solidFill>
                <a:latin typeface="Segoe UI"/>
              </a:rPr>
              <a:t>3. Soft Forks (Backward-Compatible): </a:t>
            </a:r>
            <a:r>
              <a:rPr b="0" sz="1050">
                <a:solidFill>
                  <a:srgbClr val="F5EDE4"/>
                </a:solidFill>
                <a:latin typeface="Segoe UI"/>
              </a:rPr>
              <a:t>Tighten protocol rules. Old nodes still see blocks as valid (e.g., SegWit). Does not split the network.</a:t>
            </a:r>
          </a:p>
          <a:p>
            <a:pPr>
              <a:spcAft>
                <a:spcPts val="750"/>
              </a:spcAft>
            </a:pPr>
            <a:r>
              <a:rPr b="1" sz="1050">
                <a:solidFill>
                  <a:srgbClr val="FF5900"/>
                </a:solidFill>
                <a:latin typeface="Segoe UI"/>
              </a:rPr>
              <a:t>4. Hard Forks (Backward-Incompatible): </a:t>
            </a:r>
            <a:r>
              <a:rPr b="0" sz="1050">
                <a:solidFill>
                  <a:srgbClr val="F5EDE4"/>
                </a:solidFill>
                <a:latin typeface="Segoe UI"/>
              </a:rPr>
              <a:t>Loosen rules; requires 100% of nodes to upgrade. If consensus fails, the chain permanently splits into two rival networks (e.g., Bitcoin vs Bitcoin Cash in 2017; Ethereum vs Ethereum Classic in 2016).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INDUSTRIAL REALITY &amp; ALTCOIN VIABILITY</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Who &amp; Where Miners Are: Viability &amp; The Profitability of Altcoins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06/24</a:t>
            </a:r>
          </a:p>
        </p:txBody>
      </p:sp>
      <p:sp>
        <p:nvSpPr>
          <p:cNvPr id="9" name="Rounded Rectangle 8"/>
          <p:cNvSpPr/>
          <p:nvPr/>
        </p:nvSpPr>
        <p:spPr>
          <a:xfrm>
            <a:off x="731520" y="1554480"/>
            <a:ext cx="5852160" cy="4572000"/>
          </a:xfrm>
          <a:prstGeom prst="roundRect">
            <a:avLst>
              <a:gd name="adj" fmla="val 4000"/>
            </a:avLst>
          </a:prstGeom>
          <a:solidFill>
            <a:srgbClr val="FFFFFF"/>
          </a:solidFill>
          <a:ln w="1524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rt_mining_economics_en.png"/>
          <p:cNvPicPr>
            <a:picLocks noChangeAspect="1"/>
          </p:cNvPicPr>
          <p:nvPr/>
        </p:nvPicPr>
        <p:blipFill>
          <a:blip r:embed="rId3"/>
          <a:stretch>
            <a:fillRect/>
          </a:stretch>
        </p:blipFill>
        <p:spPr>
          <a:xfrm>
            <a:off x="822960" y="1691640"/>
            <a:ext cx="5669280" cy="2576945"/>
          </a:xfrm>
          <a:prstGeom prst="rect">
            <a:avLst/>
          </a:prstGeom>
        </p:spPr>
      </p:pic>
      <p:sp>
        <p:nvSpPr>
          <p:cNvPr id="11" name="Rounded Rectangle 10"/>
          <p:cNvSpPr/>
          <p:nvPr/>
        </p:nvSpPr>
        <p:spPr>
          <a:xfrm>
            <a:off x="6858000" y="1554480"/>
            <a:ext cx="457200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1737360"/>
            <a:ext cx="4206240" cy="4114800"/>
          </a:xfrm>
          <a:prstGeom prst="rect">
            <a:avLst/>
          </a:prstGeom>
          <a:noFill/>
        </p:spPr>
        <p:txBody>
          <a:bodyPr wrap="square">
            <a:spAutoFit/>
          </a:bodyPr>
          <a:lstStyle/>
          <a:p>
            <a:pPr>
              <a:spcAft>
                <a:spcPts val="800"/>
              </a:spcAft>
              <a:defRPr sz="1400" b="1">
                <a:solidFill>
                  <a:srgbClr val="FF5900"/>
                </a:solidFill>
              </a:defRPr>
            </a:pPr>
            <a:r>
              <a:t>The Industrial &amp; Economic Reality</a:t>
            </a:r>
          </a:p>
          <a:p>
            <a:pPr>
              <a:spcAft>
                <a:spcPts val="650"/>
              </a:spcAft>
            </a:pPr>
            <a:r>
              <a:rPr b="1" sz="1000">
                <a:solidFill>
                  <a:srgbClr val="FF5900"/>
                </a:solidFill>
                <a:latin typeface="Segoe UI"/>
              </a:rPr>
              <a:t>• Who Miners Are: </a:t>
            </a:r>
            <a:r>
              <a:rPr b="0" sz="1000">
                <a:solidFill>
                  <a:srgbClr val="F5EDE4"/>
                </a:solidFill>
                <a:latin typeface="Segoe UI"/>
              </a:rPr>
              <a:t>Transitioned from home hobbyists to multi-billion-dollar NASDAQ-listed conglomerates (Marathon, Riot, CleanSpark) and giant pools (Foundry USA, AntPool) aggregating thousands of ASICs.</a:t>
            </a:r>
          </a:p>
          <a:p>
            <a:pPr>
              <a:spcAft>
                <a:spcPts val="650"/>
              </a:spcAft>
            </a:pPr>
            <a:r>
              <a:rPr b="1" sz="1000">
                <a:solidFill>
                  <a:srgbClr val="FF5900"/>
                </a:solidFill>
                <a:latin typeface="Segoe UI"/>
              </a:rPr>
              <a:t>• Where Miners Are: </a:t>
            </a:r>
            <a:r>
              <a:rPr b="0" sz="1000">
                <a:solidFill>
                  <a:srgbClr val="F5EDE4"/>
                </a:solidFill>
                <a:latin typeface="Segoe UI"/>
              </a:rPr>
              <a:t>Concentrated in energy-advantaged regions: **United States (~38%**, driven by Texas ERCOT grid &amp; flared gas), China (~21% covert hydro), Russia (~14% cheap Siberian hydro), and Canada.</a:t>
            </a:r>
          </a:p>
          <a:p>
            <a:pPr>
              <a:spcAft>
                <a:spcPts val="650"/>
              </a:spcAft>
            </a:pPr>
            <a:r>
              <a:rPr b="1" sz="1000">
                <a:solidFill>
                  <a:srgbClr val="FF5900"/>
                </a:solidFill>
                <a:latin typeface="Segoe UI"/>
              </a:rPr>
              <a:t>• Is Mining Still Viable?: </a:t>
            </a:r>
            <a:r>
              <a:rPr b="0" sz="1000">
                <a:solidFill>
                  <a:srgbClr val="F5EDE4"/>
                </a:solidFill>
                <a:latin typeface="Segoe UI"/>
              </a:rPr>
              <a:t>Brutal margin compression. The April 2024 Halving cut block subsidy from 6.25 to 3.125 BTC. With network hashrate &gt;700 EH/s, survival requires **electricity &lt; $0.045/kWh** and latest-gen ASICs (&lt;17.5 J/TH). Less efficient operators face bankruptcy.</a:t>
            </a:r>
          </a:p>
          <a:p>
            <a:pPr>
              <a:spcAft>
                <a:spcPts val="650"/>
              </a:spcAft>
            </a:pPr>
            <a:r>
              <a:rPr b="1" sz="1000">
                <a:solidFill>
                  <a:srgbClr val="FF5900"/>
                </a:solidFill>
                <a:latin typeface="Segoe UI"/>
              </a:rPr>
              <a:t>• Is Creating Altcoins Profitable? (~7,000+): </a:t>
            </a:r>
            <a:r>
              <a:rPr b="0" sz="1000">
                <a:solidFill>
                  <a:srgbClr val="F5EDE4"/>
                </a:solidFill>
                <a:latin typeface="Segoe UI"/>
              </a:rPr>
              <a:t>Over 7,000 to tens of thousands of tokens created. **&gt;70-80% die with zero volume or liquidity** ('dead coins', rug pulls). Only top 50 hold lasting value.</a:t>
            </a:r>
          </a:p>
          <a:p>
            <a:pPr>
              <a:spcAft>
                <a:spcPts val="650"/>
              </a:spcAft>
            </a:pPr>
            <a:r>
              <a:rPr b="1" sz="1000">
                <a:solidFill>
                  <a:srgbClr val="FF5900"/>
                </a:solidFill>
                <a:latin typeface="Segoe UI"/>
              </a:rPr>
              <a:t>• Who Profits from New Coins?: </a:t>
            </a:r>
            <a:r>
              <a:rPr b="0" sz="1000">
                <a:solidFill>
                  <a:srgbClr val="F5EDE4"/>
                </a:solidFill>
                <a:latin typeface="Segoe UI"/>
              </a:rPr>
              <a:t>Early insiders, founders with pre-mines, and launchpad creators who sell into initial retail hype. For 99% of creators and buyers, token creation yields zero net profit due to insurmountable network effects (Metcalfe's Law).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TECHNICAL ANALYSIS &amp; DECISION MAKING</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Price-Volume Series: The Core of Investor Decision Making</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07/24</a:t>
            </a:r>
          </a:p>
        </p:txBody>
      </p:sp>
      <p:sp>
        <p:nvSpPr>
          <p:cNvPr id="9" name="Rounded Rectangle 8"/>
          <p:cNvSpPr/>
          <p:nvPr/>
        </p:nvSpPr>
        <p:spPr>
          <a:xfrm>
            <a:off x="731520" y="1554480"/>
            <a:ext cx="475488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389120" cy="4114800"/>
          </a:xfrm>
          <a:prstGeom prst="rect">
            <a:avLst/>
          </a:prstGeom>
          <a:noFill/>
        </p:spPr>
        <p:txBody>
          <a:bodyPr wrap="square">
            <a:spAutoFit/>
          </a:bodyPr>
          <a:lstStyle/>
          <a:p>
            <a:pPr>
              <a:spcAft>
                <a:spcPts val="1000"/>
              </a:spcAft>
              <a:defRPr sz="1500" b="1">
                <a:solidFill>
                  <a:srgbClr val="DA4100"/>
                </a:solidFill>
              </a:defRPr>
            </a:pPr>
            <a:r>
              <a:t>Interpreting Market Behavior</a:t>
            </a:r>
          </a:p>
          <a:p>
            <a:pPr>
              <a:spcAft>
                <a:spcPts val="800"/>
              </a:spcAft>
            </a:pPr>
            <a:r>
              <a:rPr b="1" sz="1100">
                <a:solidFill>
                  <a:srgbClr val="DA4100"/>
                </a:solidFill>
                <a:latin typeface="Segoe UI"/>
              </a:rPr>
              <a:t>• Candlestick Charts (OHLCV): </a:t>
            </a:r>
            <a:r>
              <a:rPr b="0" sz="1100">
                <a:solidFill>
                  <a:srgbClr val="21140E"/>
                </a:solidFill>
                <a:latin typeface="Segoe UI"/>
              </a:rPr>
              <a:t>Synthesizes intraday price action through Open, High, Low, and Close, reflecting the continuous tug-of-war between buyers and sellers.</a:t>
            </a:r>
          </a:p>
          <a:p>
            <a:pPr>
              <a:spcAft>
                <a:spcPts val="800"/>
              </a:spcAft>
            </a:pPr>
            <a:r>
              <a:rPr b="1" sz="1100">
                <a:solidFill>
                  <a:srgbClr val="DA4100"/>
                </a:solidFill>
                <a:latin typeface="Segoe UI"/>
              </a:rPr>
              <a:t>• Volume Validation: </a:t>
            </a:r>
            <a:r>
              <a:rPr b="0" sz="1100">
                <a:solidFill>
                  <a:srgbClr val="21140E"/>
                </a:solidFill>
                <a:latin typeface="Segoe UI"/>
              </a:rPr>
              <a:t>'Price is what you pay; volume is the institutional conviction behind the move.' Price advances backed by rising volume confirm genuine accumulation.</a:t>
            </a:r>
          </a:p>
          <a:p>
            <a:pPr>
              <a:spcAft>
                <a:spcPts val="800"/>
              </a:spcAft>
            </a:pPr>
            <a:r>
              <a:rPr b="1" sz="1100">
                <a:solidFill>
                  <a:srgbClr val="DA4100"/>
                </a:solidFill>
                <a:latin typeface="Segoe UI"/>
              </a:rPr>
              <a:t>• Divergence Analysis: </a:t>
            </a:r>
            <a:r>
              <a:rPr b="0" sz="1100">
                <a:solidFill>
                  <a:srgbClr val="21140E"/>
                </a:solidFill>
                <a:latin typeface="Segoe UI"/>
              </a:rPr>
              <a:t>New price highs accompanied by diminishing volume signal buyer exhaustion and warn of impending trend reversals.</a:t>
            </a:r>
          </a:p>
          <a:p>
            <a:pPr>
              <a:spcAft>
                <a:spcPts val="800"/>
              </a:spcAft>
            </a:pPr>
            <a:r>
              <a:rPr b="1" sz="1100">
                <a:solidFill>
                  <a:srgbClr val="DA4100"/>
                </a:solidFill>
                <a:latin typeface="Segoe UI"/>
              </a:rPr>
              <a:t>• Breakout Confirmation: </a:t>
            </a:r>
            <a:r>
              <a:rPr b="0" sz="1100">
                <a:solidFill>
                  <a:srgbClr val="21140E"/>
                </a:solidFill>
                <a:latin typeface="Segoe UI"/>
              </a:rPr>
              <a:t>Breaking key technical resistance without volume is typically a 'fakeout'; high-volume surges confirm structural trend shifts.</a:t>
            </a:r>
          </a:p>
          <a:p>
            <a:pPr>
              <a:spcAft>
                <a:spcPts val="800"/>
              </a:spcAft>
            </a:pPr>
            <a:r>
              <a:rPr b="1" sz="1100">
                <a:solidFill>
                  <a:srgbClr val="DA4100"/>
                </a:solidFill>
                <a:latin typeface="Segoe UI"/>
              </a:rPr>
              <a:t>• Essential Limitations: </a:t>
            </a:r>
            <a:r>
              <a:rPr b="0" sz="1100">
                <a:solidFill>
                  <a:srgbClr val="21140E"/>
                </a:solidFill>
                <a:latin typeface="Segoe UI"/>
              </a:rPr>
              <a:t>Exchange-reported volume can be contaminated by internal wash trading and omits large institutional Over-The-Counter (OTC) settlements.</a:t>
            </a:r>
          </a:p>
        </p:txBody>
      </p:sp>
      <p:sp>
        <p:nvSpPr>
          <p:cNvPr id="11" name="Rounded Rectangle 10"/>
          <p:cNvSpPr/>
          <p:nvPr/>
        </p:nvSpPr>
        <p:spPr>
          <a:xfrm>
            <a:off x="5760720" y="1554480"/>
            <a:ext cx="5669280" cy="4572000"/>
          </a:xfrm>
          <a:prstGeom prst="roundRect">
            <a:avLst>
              <a:gd name="adj" fmla="val 4000"/>
            </a:avLst>
          </a:prstGeom>
          <a:solidFill>
            <a:srgbClr val="FFFFFF"/>
          </a:solidFill>
          <a:ln w="1524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rt_price_volume_candlestick_en.png"/>
          <p:cNvPicPr>
            <a:picLocks noChangeAspect="1"/>
          </p:cNvPicPr>
          <p:nvPr/>
        </p:nvPicPr>
        <p:blipFill>
          <a:blip r:embed="rId3"/>
          <a:stretch>
            <a:fillRect/>
          </a:stretch>
        </p:blipFill>
        <p:spPr>
          <a:xfrm>
            <a:off x="5852160" y="1691640"/>
            <a:ext cx="5486400" cy="28529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MARKET MICROSTRUCTURE</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The Order Book &amp; Depth of Market (DOM)</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08/24</a:t>
            </a:r>
          </a:p>
        </p:txBody>
      </p:sp>
      <p:sp>
        <p:nvSpPr>
          <p:cNvPr id="9" name="Rounded Rectangle 8"/>
          <p:cNvSpPr/>
          <p:nvPr/>
        </p:nvSpPr>
        <p:spPr>
          <a:xfrm>
            <a:off x="731520" y="1554480"/>
            <a:ext cx="5669280" cy="4572000"/>
          </a:xfrm>
          <a:prstGeom prst="roundRect">
            <a:avLst>
              <a:gd name="adj" fmla="val 4000"/>
            </a:avLst>
          </a:prstGeom>
          <a:solidFill>
            <a:srgbClr val="FFFFFF"/>
          </a:solidFill>
          <a:ln w="1524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rt_order_book_en.png"/>
          <p:cNvPicPr>
            <a:picLocks noChangeAspect="1"/>
          </p:cNvPicPr>
          <p:nvPr/>
        </p:nvPicPr>
        <p:blipFill>
          <a:blip r:embed="rId3"/>
          <a:stretch>
            <a:fillRect/>
          </a:stretch>
        </p:blipFill>
        <p:spPr>
          <a:xfrm>
            <a:off x="822960" y="1691640"/>
            <a:ext cx="5486400" cy="2743200"/>
          </a:xfrm>
          <a:prstGeom prst="rect">
            <a:avLst/>
          </a:prstGeom>
        </p:spPr>
      </p:pic>
      <p:sp>
        <p:nvSpPr>
          <p:cNvPr id="11" name="Rounded Rectangle 10"/>
          <p:cNvSpPr/>
          <p:nvPr/>
        </p:nvSpPr>
        <p:spPr>
          <a:xfrm>
            <a:off x="6675120" y="1554480"/>
            <a:ext cx="475488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1737360"/>
            <a:ext cx="4389120" cy="4114800"/>
          </a:xfrm>
          <a:prstGeom prst="rect">
            <a:avLst/>
          </a:prstGeom>
          <a:noFill/>
        </p:spPr>
        <p:txBody>
          <a:bodyPr wrap="square">
            <a:spAutoFit/>
          </a:bodyPr>
          <a:lstStyle/>
          <a:p>
            <a:pPr>
              <a:spcAft>
                <a:spcPts val="1000"/>
              </a:spcAft>
              <a:defRPr sz="1500" b="1">
                <a:solidFill>
                  <a:srgbClr val="FF5900"/>
                </a:solidFill>
              </a:defRPr>
            </a:pPr>
            <a:r>
              <a:t>Central Limit Order Book (CLOB) Mechanics</a:t>
            </a:r>
          </a:p>
          <a:p>
            <a:pPr>
              <a:spcAft>
                <a:spcPts val="800"/>
              </a:spcAft>
            </a:pPr>
            <a:r>
              <a:rPr b="1" sz="1100">
                <a:solidFill>
                  <a:srgbClr val="FF5900"/>
                </a:solidFill>
                <a:latin typeface="Segoe UI"/>
              </a:rPr>
              <a:t>• Buy Side (Bids): </a:t>
            </a:r>
            <a:r>
              <a:rPr b="0" sz="1100">
                <a:solidFill>
                  <a:srgbClr val="F5EDE4"/>
                </a:solidFill>
                <a:latin typeface="Segoe UI"/>
              </a:rPr>
              <a:t>Limit buy orders ranked in descending price order. The highest price willing to buy is the 'Best Bid'.</a:t>
            </a:r>
          </a:p>
          <a:p>
            <a:pPr>
              <a:spcAft>
                <a:spcPts val="800"/>
              </a:spcAft>
            </a:pPr>
            <a:r>
              <a:rPr b="1" sz="1100">
                <a:solidFill>
                  <a:srgbClr val="FF5900"/>
                </a:solidFill>
                <a:latin typeface="Segoe UI"/>
              </a:rPr>
              <a:t>• Sell Side (Asks / Offers): </a:t>
            </a:r>
            <a:r>
              <a:rPr b="0" sz="1100">
                <a:solidFill>
                  <a:srgbClr val="F5EDE4"/>
                </a:solidFill>
                <a:latin typeface="Segoe UI"/>
              </a:rPr>
              <a:t>Limit sell orders ranked in ascending price order. The lowest price willing to sell is the 'Best Ask'.</a:t>
            </a:r>
          </a:p>
          <a:p>
            <a:pPr>
              <a:spcAft>
                <a:spcPts val="800"/>
              </a:spcAft>
            </a:pPr>
            <a:r>
              <a:rPr b="1" sz="1100">
                <a:solidFill>
                  <a:srgbClr val="FF5900"/>
                </a:solidFill>
                <a:latin typeface="Segoe UI"/>
              </a:rPr>
              <a:t>• Depth of Market (DOM): </a:t>
            </a:r>
            <a:r>
              <a:rPr b="0" sz="1100">
                <a:solidFill>
                  <a:srgbClr val="F5EDE4"/>
                </a:solidFill>
                <a:latin typeface="Segoe UI"/>
              </a:rPr>
              <a:t>Cumulative liquidity available across price ticks. Deeper books absorb substantial order flow without sharp price displacement.</a:t>
            </a:r>
          </a:p>
          <a:p>
            <a:pPr>
              <a:spcAft>
                <a:spcPts val="800"/>
              </a:spcAft>
            </a:pPr>
            <a:r>
              <a:rPr b="1" sz="1100">
                <a:solidFill>
                  <a:srgbClr val="FF5900"/>
                </a:solidFill>
                <a:latin typeface="Segoe UI"/>
              </a:rPr>
              <a:t>• Makers vs. Takers: </a:t>
            </a:r>
            <a:r>
              <a:rPr b="0" sz="1100">
                <a:solidFill>
                  <a:srgbClr val="F5EDE4"/>
                </a:solidFill>
                <a:latin typeface="Segoe UI"/>
              </a:rPr>
              <a:t>Market Makers provide passive liquidity via limit orders (earning fee rebates); Takers consume resting liquidity via aggressive market orders.</a:t>
            </a:r>
          </a:p>
          <a:p>
            <a:pPr>
              <a:spcAft>
                <a:spcPts val="800"/>
              </a:spcAft>
            </a:pPr>
            <a:r>
              <a:rPr b="1" sz="1100">
                <a:solidFill>
                  <a:srgbClr val="FF5900"/>
                </a:solidFill>
                <a:latin typeface="Segoe UI"/>
              </a:rPr>
              <a:t>• Execution Slippage: </a:t>
            </a:r>
            <a:r>
              <a:rPr b="0" sz="1100">
                <a:solidFill>
                  <a:srgbClr val="F5EDE4"/>
                </a:solidFill>
                <a:latin typeface="Segoe UI"/>
              </a:rPr>
              <a:t>Occurs when a market order exceeds resting liquidity at the top of the book, forcing fills across successively worse price levels.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MARKET MICROSTRUCTURE</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The Bid-Ask Spread &amp; Quantitative Liquidity Measurement</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09/24</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Anatomy of the Bid-Ask Spread</a:t>
            </a:r>
          </a:p>
          <a:p>
            <a:pPr>
              <a:spcAft>
                <a:spcPts val="1000"/>
              </a:spcAft>
            </a:pPr>
            <a:r>
              <a:rPr b="1" sz="1150">
                <a:solidFill>
                  <a:srgbClr val="DA4100"/>
                </a:solidFill>
                <a:latin typeface="Segoe UI"/>
              </a:rPr>
              <a:t>• Absolute Spread: </a:t>
            </a:r>
            <a:r>
              <a:rPr b="0" sz="1150">
                <a:solidFill>
                  <a:srgbClr val="21140E"/>
                </a:solidFill>
                <a:latin typeface="Segoe UI"/>
              </a:rPr>
              <a:t>Difference between the lowest ask and highest bid:
Spread = P_{ask} - P_{bid}</a:t>
            </a:r>
          </a:p>
          <a:p>
            <a:pPr>
              <a:spcAft>
                <a:spcPts val="1000"/>
              </a:spcAft>
            </a:pPr>
            <a:r>
              <a:rPr b="1" sz="1150">
                <a:solidFill>
                  <a:srgbClr val="DA4100"/>
                </a:solidFill>
                <a:latin typeface="Segoe UI"/>
              </a:rPr>
              <a:t>• Relative Percentage Spread: </a:t>
            </a:r>
            <a:r>
              <a:rPr b="0" sz="1150">
                <a:solidFill>
                  <a:srgbClr val="21140E"/>
                </a:solidFill>
                <a:latin typeface="Segoe UI"/>
              </a:rPr>
              <a:t>Normalized by the mid-price:
Spread % = [(P_{ask} - P_{bid}) / P_{mid}] × 100</a:t>
            </a:r>
          </a:p>
          <a:p>
            <a:pPr>
              <a:spcAft>
                <a:spcPts val="1000"/>
              </a:spcAft>
            </a:pPr>
            <a:r>
              <a:rPr b="1" sz="1150">
                <a:solidFill>
                  <a:srgbClr val="DA4100"/>
                </a:solidFill>
                <a:latin typeface="Segoe UI"/>
              </a:rPr>
              <a:t>• Instantaneous Friction Cost: </a:t>
            </a:r>
            <a:r>
              <a:rPr b="0" sz="1150">
                <a:solidFill>
                  <a:srgbClr val="21140E"/>
                </a:solidFill>
                <a:latin typeface="Segoe UI"/>
              </a:rPr>
              <a:t>The immediate toll paid by any market participant executing an aggressive market order ('crossing the spread').</a:t>
            </a:r>
          </a:p>
          <a:p>
            <a:pPr>
              <a:spcAft>
                <a:spcPts val="1000"/>
              </a:spcAft>
            </a:pPr>
            <a:r>
              <a:rPr b="1" sz="1150">
                <a:solidFill>
                  <a:srgbClr val="DA4100"/>
                </a:solidFill>
                <a:latin typeface="Segoe UI"/>
              </a:rPr>
              <a:t>• Market Maker Compensation: </a:t>
            </a:r>
            <a:r>
              <a:rPr b="0" sz="1150">
                <a:solidFill>
                  <a:srgbClr val="21140E"/>
                </a:solidFill>
                <a:latin typeface="Segoe UI"/>
              </a:rPr>
              <a:t>Compensates liquidity providers for three core risks: inventory holding risk, adverse selection from informed traders, and processing costs.</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Quantitative Liquidity Estimators</a:t>
            </a:r>
          </a:p>
          <a:p>
            <a:pPr>
              <a:spcAft>
                <a:spcPts val="1000"/>
              </a:spcAft>
            </a:pPr>
            <a:r>
              <a:rPr b="1" sz="1100">
                <a:solidFill>
                  <a:srgbClr val="FF5900"/>
                </a:solidFill>
                <a:latin typeface="Segoe UI"/>
              </a:rPr>
              <a:t>• Amihud (2002) Illiquidity Ratio: </a:t>
            </a:r>
            <a:r>
              <a:rPr b="0" sz="1100">
                <a:solidFill>
                  <a:srgbClr val="F5EDE4"/>
                </a:solidFill>
                <a:latin typeface="Segoe UI"/>
              </a:rPr>
              <a:t>Quantifies price impact per monetary volume unit transacted:
ILLIQ_t = |r_t| / Volume_t
(Higher ratios indicate fragile, illiquid trading environments).</a:t>
            </a:r>
          </a:p>
          <a:p>
            <a:pPr>
              <a:spcAft>
                <a:spcPts val="1000"/>
              </a:spcAft>
            </a:pPr>
            <a:r>
              <a:rPr b="1" sz="1100">
                <a:solidFill>
                  <a:srgbClr val="FF5900"/>
                </a:solidFill>
                <a:latin typeface="Segoe UI"/>
              </a:rPr>
              <a:t>• Corwin-Schultz (2012) Spread Estimator: </a:t>
            </a:r>
            <a:r>
              <a:rPr b="0" sz="1100">
                <a:solidFill>
                  <a:srgbClr val="F5EDE4"/>
                </a:solidFill>
                <a:latin typeface="Segoe UI"/>
              </a:rPr>
              <a:t>Estimates effective bid-ask spreads from daily high-low price ratios (evaluated in the Jalal &amp; Westland study).</a:t>
            </a:r>
          </a:p>
          <a:p>
            <a:pPr>
              <a:spcAft>
                <a:spcPts val="1000"/>
              </a:spcAft>
            </a:pPr>
            <a:r>
              <a:rPr b="1" sz="1100">
                <a:solidFill>
                  <a:srgbClr val="FF5900"/>
                </a:solidFill>
                <a:latin typeface="Segoe UI"/>
              </a:rPr>
              <a:t>• Order Flow Imbalance (OFI): </a:t>
            </a:r>
            <a:r>
              <a:rPr b="0" sz="1100">
                <a:solidFill>
                  <a:srgbClr val="F5EDE4"/>
                </a:solidFill>
                <a:latin typeface="Segoe UI"/>
              </a:rPr>
              <a:t>Net imbalance between bid and ask side order flow; exhibits strong short-horizon predictive power for high-frequency price changes.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GLOBAL TRADING STRUCTURE</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The Hegemony of Derivatives: ~2/3 of Global Crypto Trading Volume</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10/24</a:t>
            </a:r>
          </a:p>
        </p:txBody>
      </p:sp>
      <p:sp>
        <p:nvSpPr>
          <p:cNvPr id="9" name="Rounded Rectangle 8"/>
          <p:cNvSpPr/>
          <p:nvPr/>
        </p:nvSpPr>
        <p:spPr>
          <a:xfrm>
            <a:off x="731520" y="1554480"/>
            <a:ext cx="5852160" cy="4572000"/>
          </a:xfrm>
          <a:prstGeom prst="roundRect">
            <a:avLst>
              <a:gd name="adj" fmla="val 4000"/>
            </a:avLst>
          </a:prstGeom>
          <a:solidFill>
            <a:srgbClr val="FFFFFF"/>
          </a:solidFill>
          <a:ln w="1524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rt_derivatives_vs_spot_en.png"/>
          <p:cNvPicPr>
            <a:picLocks noChangeAspect="1"/>
          </p:cNvPicPr>
          <p:nvPr/>
        </p:nvPicPr>
        <p:blipFill>
          <a:blip r:embed="rId3"/>
          <a:stretch>
            <a:fillRect/>
          </a:stretch>
        </p:blipFill>
        <p:spPr>
          <a:xfrm>
            <a:off x="822960" y="1691640"/>
            <a:ext cx="5669280" cy="2576945"/>
          </a:xfrm>
          <a:prstGeom prst="rect">
            <a:avLst/>
          </a:prstGeom>
        </p:spPr>
      </p:pic>
      <p:sp>
        <p:nvSpPr>
          <p:cNvPr id="11" name="Rounded Rectangle 10"/>
          <p:cNvSpPr/>
          <p:nvPr/>
        </p:nvSpPr>
        <p:spPr>
          <a:xfrm>
            <a:off x="6858000" y="1554480"/>
            <a:ext cx="457200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1737360"/>
            <a:ext cx="4206240" cy="4114800"/>
          </a:xfrm>
          <a:prstGeom prst="rect">
            <a:avLst/>
          </a:prstGeom>
          <a:noFill/>
        </p:spPr>
        <p:txBody>
          <a:bodyPr wrap="square">
            <a:spAutoFit/>
          </a:bodyPr>
          <a:lstStyle/>
          <a:p>
            <a:pPr>
              <a:spcAft>
                <a:spcPts val="1000"/>
              </a:spcAft>
              <a:defRPr sz="1500" b="1">
                <a:solidFill>
                  <a:srgbClr val="FF5900"/>
                </a:solidFill>
              </a:defRPr>
            </a:pPr>
            <a:r>
              <a:t>Why Do Derivatives Dominate?</a:t>
            </a:r>
          </a:p>
          <a:p>
            <a:pPr>
              <a:spcAft>
                <a:spcPts val="800"/>
              </a:spcAft>
            </a:pPr>
            <a:r>
              <a:rPr b="1" sz="1100">
                <a:solidFill>
                  <a:srgbClr val="FF5900"/>
                </a:solidFill>
                <a:latin typeface="Segoe UI"/>
              </a:rPr>
              <a:t>1. Capital Efficiency &amp; Leverage: </a:t>
            </a:r>
            <a:r>
              <a:rPr b="0" sz="1100">
                <a:solidFill>
                  <a:srgbClr val="F5EDE4"/>
                </a:solidFill>
                <a:latin typeface="Segoe UI"/>
              </a:rPr>
              <a:t>Traders are not required to post 100% notional capital; leveraged positions (5x, 20x, 50x) can be opened with fractional initial margins.</a:t>
            </a:r>
          </a:p>
          <a:p>
            <a:pPr>
              <a:spcAft>
                <a:spcPts val="800"/>
              </a:spcAft>
            </a:pPr>
            <a:r>
              <a:rPr b="1" sz="1100">
                <a:solidFill>
                  <a:srgbClr val="FF5900"/>
                </a:solidFill>
                <a:latin typeface="Segoe UI"/>
              </a:rPr>
              <a:t>2. Frictionless Short Selling: </a:t>
            </a:r>
            <a:r>
              <a:rPr b="0" sz="1100">
                <a:solidFill>
                  <a:srgbClr val="F5EDE4"/>
                </a:solidFill>
                <a:latin typeface="Segoe UI"/>
              </a:rPr>
              <a:t>Enables portfolio hedging and downside speculation synthetically without the need to locate and borrow the underlying physical crypto asset.</a:t>
            </a:r>
          </a:p>
          <a:p>
            <a:pPr>
              <a:spcAft>
                <a:spcPts val="800"/>
              </a:spcAft>
            </a:pPr>
            <a:r>
              <a:rPr b="1" sz="1100">
                <a:solidFill>
                  <a:srgbClr val="FF5900"/>
                </a:solidFill>
                <a:latin typeface="Segoe UI"/>
              </a:rPr>
              <a:t>3. Absence of On-Chain Friction: </a:t>
            </a:r>
            <a:r>
              <a:rPr b="0" sz="1100">
                <a:solidFill>
                  <a:srgbClr val="F5EDE4"/>
                </a:solidFill>
                <a:latin typeface="Segoe UI"/>
              </a:rPr>
              <a:t>Derivatives trading on CEXs eliminates blockchain network gas fees and confirmation latency for each transaction.</a:t>
            </a:r>
          </a:p>
          <a:p>
            <a:pPr>
              <a:spcAft>
                <a:spcPts val="800"/>
              </a:spcAft>
            </a:pPr>
            <a:r>
              <a:rPr b="1" sz="1100">
                <a:solidFill>
                  <a:srgbClr val="FF5900"/>
                </a:solidFill>
                <a:latin typeface="Segoe UI"/>
              </a:rPr>
              <a:t>4. Central Venue for Price Discovery: </a:t>
            </a:r>
            <a:r>
              <a:rPr b="0" sz="1100">
                <a:solidFill>
                  <a:srgbClr val="F5EDE4"/>
                </a:solidFill>
                <a:latin typeface="Segoe UI"/>
              </a:rPr>
              <a:t>Empirical literature shows price discovery originates in perpetual futures markets before transmitting to spot exchanges.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ADVANCED FINANCIAL INSTRUMENTS</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Anatomy of Crypto Derivatives: Perpetuals, Options, and Cascades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11/24</a:t>
            </a:r>
          </a:p>
        </p:txBody>
      </p:sp>
      <p:sp>
        <p:nvSpPr>
          <p:cNvPr id="9" name="Rounded Rectangle 8"/>
          <p:cNvSpPr/>
          <p:nvPr/>
        </p:nvSpPr>
        <p:spPr>
          <a:xfrm>
            <a:off x="731520" y="1554480"/>
            <a:ext cx="3328416"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2962656" cy="4206240"/>
          </a:xfrm>
          <a:prstGeom prst="rect">
            <a:avLst/>
          </a:prstGeom>
          <a:noFill/>
        </p:spPr>
        <p:txBody>
          <a:bodyPr wrap="square">
            <a:spAutoFit/>
          </a:bodyPr>
          <a:lstStyle/>
          <a:p>
            <a:pPr>
              <a:spcAft>
                <a:spcPts val="1000"/>
              </a:spcAft>
              <a:defRPr sz="1400" b="1">
                <a:solidFill>
                  <a:srgbClr val="DA4100"/>
                </a:solidFill>
              </a:defRPr>
            </a:pPr>
            <a:r>
              <a:t>Perpetual Swaps (Perps)</a:t>
            </a:r>
          </a:p>
          <a:p>
            <a:pPr>
              <a:spcAft>
                <a:spcPts val="700"/>
              </a:spcAft>
            </a:pPr>
            <a:r>
              <a:rPr b="1" sz="1050">
                <a:solidFill>
                  <a:srgbClr val="DA4100"/>
                </a:solidFill>
                <a:latin typeface="Segoe UI"/>
              </a:rPr>
              <a:t>• No Expiration Date: </a:t>
            </a:r>
            <a:r>
              <a:rPr b="0" sz="1050">
                <a:solidFill>
                  <a:srgbClr val="21140E"/>
                </a:solidFill>
                <a:latin typeface="Segoe UI"/>
              </a:rPr>
              <a:t>Invented by BitMEX; contracts can be rolled and held indefinitely.</a:t>
            </a:r>
          </a:p>
          <a:p>
            <a:pPr>
              <a:spcAft>
                <a:spcPts val="700"/>
              </a:spcAft>
            </a:pPr>
            <a:r>
              <a:rPr b="1" sz="1050">
                <a:solidFill>
                  <a:srgbClr val="DA4100"/>
                </a:solidFill>
                <a:latin typeface="Segoe UI"/>
              </a:rPr>
              <a:t>• 8-Hour Funding Rate: </a:t>
            </a:r>
            <a:r>
              <a:rPr b="0" sz="1050">
                <a:solidFill>
                  <a:srgbClr val="21140E"/>
                </a:solidFill>
                <a:latin typeface="Segoe UI"/>
              </a:rPr>
              <a:t>Periodic cash flows anchoring the perpetual price to the underlying spot. If Perp &gt; Spot, longs pay shorts; if Perp &lt; Spot, shorts pay longs.</a:t>
            </a:r>
          </a:p>
          <a:p>
            <a:pPr>
              <a:spcAft>
                <a:spcPts val="700"/>
              </a:spcAft>
            </a:pPr>
            <a:r>
              <a:rPr b="1" sz="1050">
                <a:solidFill>
                  <a:srgbClr val="DA4100"/>
                </a:solidFill>
                <a:latin typeface="Segoe UI"/>
              </a:rPr>
              <a:t>• Margining Models: </a:t>
            </a:r>
            <a:r>
              <a:rPr b="0" sz="1050">
                <a:solidFill>
                  <a:srgbClr val="21140E"/>
                </a:solidFill>
                <a:latin typeface="Segoe UI"/>
              </a:rPr>
              <a:t>USDT-margined (linear contracts) vs. Coin-margined (inverse contracts).</a:t>
            </a:r>
          </a:p>
        </p:txBody>
      </p:sp>
      <p:sp>
        <p:nvSpPr>
          <p:cNvPr id="11" name="Rounded Rectangle 10"/>
          <p:cNvSpPr/>
          <p:nvPr/>
        </p:nvSpPr>
        <p:spPr>
          <a:xfrm>
            <a:off x="4425696" y="1554480"/>
            <a:ext cx="3328416"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737360"/>
            <a:ext cx="2962656" cy="4206240"/>
          </a:xfrm>
          <a:prstGeom prst="rect">
            <a:avLst/>
          </a:prstGeom>
          <a:noFill/>
        </p:spPr>
        <p:txBody>
          <a:bodyPr wrap="square">
            <a:spAutoFit/>
          </a:bodyPr>
          <a:lstStyle/>
          <a:p>
            <a:pPr>
              <a:spcAft>
                <a:spcPts val="1000"/>
              </a:spcAft>
              <a:defRPr sz="1400" b="1">
                <a:solidFill>
                  <a:srgbClr val="FF5900"/>
                </a:solidFill>
              </a:defRPr>
            </a:pPr>
            <a:r>
              <a:t>Dated Futures &amp; Options</a:t>
            </a:r>
          </a:p>
          <a:p>
            <a:pPr>
              <a:spcAft>
                <a:spcPts val="700"/>
              </a:spcAft>
            </a:pPr>
            <a:r>
              <a:rPr b="1" sz="1050">
                <a:solidFill>
                  <a:srgbClr val="FF5900"/>
                </a:solidFill>
                <a:latin typeface="Segoe UI"/>
              </a:rPr>
              <a:t>• Dated Futures: </a:t>
            </a:r>
            <a:r>
              <a:rPr b="0" sz="1050">
                <a:solidFill>
                  <a:srgbClr val="F5EDE4"/>
                </a:solidFill>
                <a:latin typeface="Segoe UI"/>
              </a:rPr>
              <a:t>Monthly/quarterly delivery contracts (CME, Binance). Feature term structure basis (Contango or Backwardation).</a:t>
            </a:r>
          </a:p>
          <a:p>
            <a:pPr>
              <a:spcAft>
                <a:spcPts val="700"/>
              </a:spcAft>
            </a:pPr>
            <a:r>
              <a:rPr b="1" sz="1050">
                <a:solidFill>
                  <a:srgbClr val="FF5900"/>
                </a:solidFill>
                <a:latin typeface="Segoe UI"/>
              </a:rPr>
              <a:t>• European Vanilla Options: </a:t>
            </a:r>
            <a:r>
              <a:rPr b="0" sz="1050">
                <a:solidFill>
                  <a:srgbClr val="F5EDE4"/>
                </a:solidFill>
                <a:latin typeface="Segoe UI"/>
              </a:rPr>
              <a:t>Deribit dominance in BTC/ETH options; used to trade implied volatility (IV).</a:t>
            </a:r>
          </a:p>
          <a:p>
            <a:pPr>
              <a:spcAft>
                <a:spcPts val="700"/>
              </a:spcAft>
            </a:pPr>
            <a:r>
              <a:rPr b="1" sz="1050">
                <a:solidFill>
                  <a:srgbClr val="FF5900"/>
                </a:solidFill>
                <a:latin typeface="Segoe UI"/>
              </a:rPr>
              <a:t>• DVOL Volatility Index: </a:t>
            </a:r>
            <a:r>
              <a:rPr b="0" sz="1050">
                <a:solidFill>
                  <a:srgbClr val="F5EDE4"/>
                </a:solidFill>
                <a:latin typeface="Segoe UI"/>
              </a:rPr>
              <a:t>Calculates expected 30-day forward-looking annualized volatility.</a:t>
            </a:r>
          </a:p>
        </p:txBody>
      </p:sp>
      <p:sp>
        <p:nvSpPr>
          <p:cNvPr id="13" name="Rounded Rectangle 12"/>
          <p:cNvSpPr/>
          <p:nvPr/>
        </p:nvSpPr>
        <p:spPr>
          <a:xfrm>
            <a:off x="8119872" y="1554480"/>
            <a:ext cx="3328416" cy="4572000"/>
          </a:xfrm>
          <a:prstGeom prst="roundRect">
            <a:avLst>
              <a:gd name="adj" fmla="val 4000"/>
            </a:avLst>
          </a:prstGeom>
          <a:solidFill>
            <a:srgbClr val="FFFFFF"/>
          </a:solidFill>
          <a:ln w="22860">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737360"/>
            <a:ext cx="2962656" cy="4206240"/>
          </a:xfrm>
          <a:prstGeom prst="rect">
            <a:avLst/>
          </a:prstGeom>
          <a:noFill/>
        </p:spPr>
        <p:txBody>
          <a:bodyPr wrap="square">
            <a:spAutoFit/>
          </a:bodyPr>
          <a:lstStyle/>
          <a:p>
            <a:pPr>
              <a:spcAft>
                <a:spcPts val="1000"/>
              </a:spcAft>
              <a:defRPr sz="1400" b="1">
                <a:solidFill>
                  <a:srgbClr val="3D2314"/>
                </a:solidFill>
              </a:defRPr>
            </a:pPr>
            <a:r>
              <a:t>Cascading Liquidations</a:t>
            </a:r>
          </a:p>
          <a:p>
            <a:pPr>
              <a:spcAft>
                <a:spcPts val="700"/>
              </a:spcAft>
            </a:pPr>
            <a:r>
              <a:rPr b="1" sz="1050">
                <a:solidFill>
                  <a:srgbClr val="3D2314"/>
                </a:solidFill>
                <a:latin typeface="Segoe UI"/>
              </a:rPr>
              <a:t>• Maintenance Margin: </a:t>
            </a:r>
            <a:r>
              <a:rPr b="0" sz="1050">
                <a:solidFill>
                  <a:srgbClr val="21140E"/>
                </a:solidFill>
                <a:latin typeface="Segoe UI"/>
              </a:rPr>
              <a:t>If equity breaches maintenance requirements, liquidation engines force-close positions at market.</a:t>
            </a:r>
          </a:p>
          <a:p>
            <a:pPr>
              <a:spcAft>
                <a:spcPts val="700"/>
              </a:spcAft>
            </a:pPr>
            <a:r>
              <a:rPr b="1" sz="1050">
                <a:solidFill>
                  <a:srgbClr val="3D2314"/>
                </a:solidFill>
                <a:latin typeface="Segoe UI"/>
              </a:rPr>
              <a:t>• Auto-Deleveraging (ADL): </a:t>
            </a:r>
            <a:r>
              <a:rPr b="0" sz="1050">
                <a:solidFill>
                  <a:srgbClr val="21140E"/>
                </a:solidFill>
                <a:latin typeface="Segoe UI"/>
              </a:rPr>
              <a:t>Massive forced sell orders deplete resting bids, driving prices down and triggering cascading secondary liquidations.</a:t>
            </a:r>
          </a:p>
          <a:p>
            <a:pPr>
              <a:spcAft>
                <a:spcPts val="700"/>
              </a:spcAft>
            </a:pPr>
            <a:r>
              <a:rPr b="1" sz="1050">
                <a:solidFill>
                  <a:srgbClr val="3D2314"/>
                </a:solidFill>
                <a:latin typeface="Segoe UI"/>
              </a:rPr>
              <a:t>• Exchange Insurance Funds: </a:t>
            </a:r>
            <a:r>
              <a:rPr b="0" sz="1050">
                <a:solidFill>
                  <a:srgbClr val="21140E"/>
                </a:solidFill>
                <a:latin typeface="Segoe UI"/>
              </a:rPr>
              <a:t>Capital buffers collateralized by liquidation penalties to prevent socialized bankruptcy losses.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THE BACKBONE OF GLOBAL LIQUIDITY</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Stablecoins: Typology, Peg Mechanisms, and Systemic Importance</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12/24</a:t>
            </a:r>
          </a:p>
        </p:txBody>
      </p:sp>
      <p:sp>
        <p:nvSpPr>
          <p:cNvPr id="9" name="Rounded Rectangle 8"/>
          <p:cNvSpPr/>
          <p:nvPr/>
        </p:nvSpPr>
        <p:spPr>
          <a:xfrm>
            <a:off x="731520" y="1554480"/>
            <a:ext cx="3328416"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2962656" cy="4206240"/>
          </a:xfrm>
          <a:prstGeom prst="rect">
            <a:avLst/>
          </a:prstGeom>
          <a:noFill/>
        </p:spPr>
        <p:txBody>
          <a:bodyPr wrap="square">
            <a:spAutoFit/>
          </a:bodyPr>
          <a:lstStyle/>
          <a:p>
            <a:pPr>
              <a:spcAft>
                <a:spcPts val="1000"/>
              </a:spcAft>
              <a:defRPr sz="1400" b="1">
                <a:solidFill>
                  <a:srgbClr val="DA4100"/>
                </a:solidFill>
              </a:defRPr>
            </a:pPr>
            <a:r>
              <a:t>1. Fiat-Backed (Off-Chain Reserves)</a:t>
            </a:r>
          </a:p>
          <a:p>
            <a:pPr>
              <a:spcAft>
                <a:spcPts val="700"/>
              </a:spcAft>
            </a:pPr>
            <a:r>
              <a:rPr b="1" sz="1050">
                <a:solidFill>
                  <a:srgbClr val="DA4100"/>
                </a:solidFill>
                <a:latin typeface="Segoe UI"/>
              </a:rPr>
              <a:t>• 1:1 Reserve Model: </a:t>
            </a:r>
            <a:r>
              <a:rPr b="0" sz="1050">
                <a:solidFill>
                  <a:srgbClr val="21140E"/>
                </a:solidFill>
                <a:latin typeface="Segoe UI"/>
              </a:rPr>
              <a:t>For every digital dollar minted, the issuer holds $1 USD in bank deposits or short-duration US Treasury Bills.</a:t>
            </a:r>
          </a:p>
          <a:p>
            <a:pPr>
              <a:spcAft>
                <a:spcPts val="700"/>
              </a:spcAft>
            </a:pPr>
            <a:r>
              <a:rPr b="1" sz="1050">
                <a:solidFill>
                  <a:srgbClr val="DA4100"/>
                </a:solidFill>
                <a:latin typeface="Segoe UI"/>
              </a:rPr>
              <a:t>• Prominent Examples: </a:t>
            </a:r>
            <a:r>
              <a:rPr b="0" sz="1050">
                <a:solidFill>
                  <a:srgbClr val="21140E"/>
                </a:solidFill>
                <a:latin typeface="Segoe UI"/>
              </a:rPr>
              <a:t>Tether (USDT), USD Coin (Circle USDC), FDUSD, PayPal USD (PYUSD).</a:t>
            </a:r>
          </a:p>
          <a:p>
            <a:pPr>
              <a:spcAft>
                <a:spcPts val="700"/>
              </a:spcAft>
            </a:pPr>
            <a:r>
              <a:rPr b="1" sz="1050">
                <a:solidFill>
                  <a:srgbClr val="DA4100"/>
                </a:solidFill>
                <a:latin typeface="Segoe UI"/>
              </a:rPr>
              <a:t>• Core Vulnerabilities: </a:t>
            </a:r>
            <a:r>
              <a:rPr b="0" sz="1050">
                <a:solidFill>
                  <a:srgbClr val="21140E"/>
                </a:solidFill>
                <a:latin typeface="Segoe UI"/>
              </a:rPr>
              <a:t>Counterparty banking risk, regulatory seizure, and reserve opacity.</a:t>
            </a:r>
          </a:p>
        </p:txBody>
      </p:sp>
      <p:sp>
        <p:nvSpPr>
          <p:cNvPr id="11" name="Rounded Rectangle 10"/>
          <p:cNvSpPr/>
          <p:nvPr/>
        </p:nvSpPr>
        <p:spPr>
          <a:xfrm>
            <a:off x="4425696" y="1554480"/>
            <a:ext cx="3328416"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737360"/>
            <a:ext cx="2962656" cy="4206240"/>
          </a:xfrm>
          <a:prstGeom prst="rect">
            <a:avLst/>
          </a:prstGeom>
          <a:noFill/>
        </p:spPr>
        <p:txBody>
          <a:bodyPr wrap="square">
            <a:spAutoFit/>
          </a:bodyPr>
          <a:lstStyle/>
          <a:p>
            <a:pPr>
              <a:spcAft>
                <a:spcPts val="1000"/>
              </a:spcAft>
              <a:defRPr sz="1400" b="1">
                <a:solidFill>
                  <a:srgbClr val="FF5900"/>
                </a:solidFill>
              </a:defRPr>
            </a:pPr>
            <a:r>
              <a:t>2. Over-Collateralized (On-Chain)</a:t>
            </a:r>
          </a:p>
          <a:p>
            <a:pPr>
              <a:spcAft>
                <a:spcPts val="700"/>
              </a:spcAft>
            </a:pPr>
            <a:r>
              <a:rPr b="1" sz="1050">
                <a:solidFill>
                  <a:srgbClr val="FF5900"/>
                </a:solidFill>
                <a:latin typeface="Segoe UI"/>
              </a:rPr>
              <a:t>• Excess Collateralization: </a:t>
            </a:r>
            <a:r>
              <a:rPr b="0" sz="1050">
                <a:solidFill>
                  <a:srgbClr val="F5EDE4"/>
                </a:solidFill>
                <a:latin typeface="Segoe UI"/>
              </a:rPr>
              <a:t>Minted by locking volatile crypto assets (ETH, WBTC) into smart contracts at 130%-150% collateral ratios.</a:t>
            </a:r>
          </a:p>
          <a:p>
            <a:pPr>
              <a:spcAft>
                <a:spcPts val="700"/>
              </a:spcAft>
            </a:pPr>
            <a:r>
              <a:rPr b="1" sz="1050">
                <a:solidFill>
                  <a:srgbClr val="FF5900"/>
                </a:solidFill>
                <a:latin typeface="Segoe UI"/>
              </a:rPr>
              <a:t>• Prominent Examples: </a:t>
            </a:r>
            <a:r>
              <a:rPr b="0" sz="1050">
                <a:solidFill>
                  <a:srgbClr val="F5EDE4"/>
                </a:solidFill>
                <a:latin typeface="Segoe UI"/>
              </a:rPr>
              <a:t>USDS / DAI (Sky / MakerDAO), LUSD (Liquity).</a:t>
            </a:r>
          </a:p>
          <a:p>
            <a:pPr>
              <a:spcAft>
                <a:spcPts val="700"/>
              </a:spcAft>
            </a:pPr>
            <a:r>
              <a:rPr b="1" sz="1050">
                <a:solidFill>
                  <a:srgbClr val="FF5900"/>
                </a:solidFill>
                <a:latin typeface="Segoe UI"/>
              </a:rPr>
              <a:t>• Stability Mechanism: </a:t>
            </a:r>
            <a:r>
              <a:rPr b="0" sz="1050">
                <a:solidFill>
                  <a:srgbClr val="F5EDE4"/>
                </a:solidFill>
                <a:latin typeface="Segoe UI"/>
              </a:rPr>
              <a:t>Decentralized governance via MKR/SKY tokens and autonomous on-chain liquidations.</a:t>
            </a:r>
          </a:p>
        </p:txBody>
      </p:sp>
      <p:sp>
        <p:nvSpPr>
          <p:cNvPr id="13" name="Rounded Rectangle 12"/>
          <p:cNvSpPr/>
          <p:nvPr/>
        </p:nvSpPr>
        <p:spPr>
          <a:xfrm>
            <a:off x="8119872" y="1554480"/>
            <a:ext cx="3328416" cy="4572000"/>
          </a:xfrm>
          <a:prstGeom prst="roundRect">
            <a:avLst>
              <a:gd name="adj" fmla="val 4000"/>
            </a:avLst>
          </a:prstGeom>
          <a:solidFill>
            <a:srgbClr val="FFFFFF"/>
          </a:solidFill>
          <a:ln w="22860">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737360"/>
            <a:ext cx="2962656" cy="4206240"/>
          </a:xfrm>
          <a:prstGeom prst="rect">
            <a:avLst/>
          </a:prstGeom>
          <a:noFill/>
        </p:spPr>
        <p:txBody>
          <a:bodyPr wrap="square">
            <a:spAutoFit/>
          </a:bodyPr>
          <a:lstStyle/>
          <a:p>
            <a:pPr>
              <a:spcAft>
                <a:spcPts val="1000"/>
              </a:spcAft>
              <a:defRPr sz="1400" b="1">
                <a:solidFill>
                  <a:srgbClr val="3D2314"/>
                </a:solidFill>
              </a:defRPr>
            </a:pPr>
            <a:r>
              <a:t>3. Synthetic &amp; Algorithmic</a:t>
            </a:r>
          </a:p>
          <a:p>
            <a:pPr>
              <a:spcAft>
                <a:spcPts val="700"/>
              </a:spcAft>
            </a:pPr>
            <a:r>
              <a:rPr b="1" sz="1050">
                <a:solidFill>
                  <a:srgbClr val="3D2314"/>
                </a:solidFill>
                <a:latin typeface="Segoe UI"/>
              </a:rPr>
              <a:t>• Delta-Neutral (Ethena USDe): </a:t>
            </a:r>
            <a:r>
              <a:rPr b="0" sz="1050">
                <a:solidFill>
                  <a:srgbClr val="21140E"/>
                </a:solidFill>
                <a:latin typeface="Segoe UI"/>
              </a:rPr>
              <a:t>Backs the dollar peg by pairing spot stETH collateral with short perpetual futures, capturing basis yields.</a:t>
            </a:r>
          </a:p>
          <a:p>
            <a:pPr>
              <a:spcAft>
                <a:spcPts val="700"/>
              </a:spcAft>
            </a:pPr>
            <a:r>
              <a:rPr b="1" sz="1050">
                <a:solidFill>
                  <a:srgbClr val="3D2314"/>
                </a:solidFill>
                <a:latin typeface="Segoe UI"/>
              </a:rPr>
              <a:t>• The Terra/UST Collapse: </a:t>
            </a:r>
            <a:r>
              <a:rPr b="0" sz="1050">
                <a:solidFill>
                  <a:srgbClr val="21140E"/>
                </a:solidFill>
                <a:latin typeface="Segoe UI"/>
              </a:rPr>
              <a:t>Historical lesson: unbacked algorithmic expansion designs collapse into systemic 'death spirals'.</a:t>
            </a:r>
          </a:p>
          <a:p>
            <a:pPr>
              <a:spcAft>
                <a:spcPts val="700"/>
              </a:spcAft>
            </a:pPr>
            <a:r>
              <a:rPr b="1" sz="1050">
                <a:solidFill>
                  <a:srgbClr val="3D2314"/>
                </a:solidFill>
                <a:latin typeface="Segoe UI"/>
              </a:rPr>
              <a:t>• Systemic Role: </a:t>
            </a:r>
            <a:r>
              <a:rPr b="0" sz="1050">
                <a:solidFill>
                  <a:srgbClr val="21140E"/>
                </a:solidFill>
                <a:latin typeface="Segoe UI"/>
              </a:rPr>
              <a:t>Stablecoins function as the 'Internet Dollar', acting as the universal unit of account and trading settlement asset.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MARKET DISTRIBUTION &amp; CORPORATE GOVERNANCE</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Histogram of Top Stablecoins &amp; Who Owns and Runs Them</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13/24</a:t>
            </a:r>
          </a:p>
        </p:txBody>
      </p:sp>
      <p:sp>
        <p:nvSpPr>
          <p:cNvPr id="9" name="Rounded Rectangle 8"/>
          <p:cNvSpPr/>
          <p:nvPr/>
        </p:nvSpPr>
        <p:spPr>
          <a:xfrm>
            <a:off x="731520" y="1554480"/>
            <a:ext cx="6035040" cy="4572000"/>
          </a:xfrm>
          <a:prstGeom prst="roundRect">
            <a:avLst>
              <a:gd name="adj" fmla="val 4000"/>
            </a:avLst>
          </a:prstGeom>
          <a:solidFill>
            <a:srgbClr val="FFFFFF"/>
          </a:solidFill>
          <a:ln w="1524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rt_stablecoins_histogram_en.png"/>
          <p:cNvPicPr>
            <a:picLocks noChangeAspect="1"/>
          </p:cNvPicPr>
          <p:nvPr/>
        </p:nvPicPr>
        <p:blipFill>
          <a:blip r:embed="rId3"/>
          <a:stretch>
            <a:fillRect/>
          </a:stretch>
        </p:blipFill>
        <p:spPr>
          <a:xfrm>
            <a:off x="822960" y="1691640"/>
            <a:ext cx="5852160" cy="3218688"/>
          </a:xfrm>
          <a:prstGeom prst="rect">
            <a:avLst/>
          </a:prstGeom>
        </p:spPr>
      </p:pic>
      <p:sp>
        <p:nvSpPr>
          <p:cNvPr id="11" name="Rounded Rectangle 10"/>
          <p:cNvSpPr/>
          <p:nvPr/>
        </p:nvSpPr>
        <p:spPr>
          <a:xfrm>
            <a:off x="6949440" y="1554480"/>
            <a:ext cx="448056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0" y="1737360"/>
            <a:ext cx="4114800" cy="4114800"/>
          </a:xfrm>
          <a:prstGeom prst="rect">
            <a:avLst/>
          </a:prstGeom>
          <a:noFill/>
        </p:spPr>
        <p:txBody>
          <a:bodyPr wrap="square">
            <a:spAutoFit/>
          </a:bodyPr>
          <a:lstStyle/>
          <a:p>
            <a:pPr>
              <a:spcAft>
                <a:spcPts val="800"/>
              </a:spcAft>
              <a:defRPr sz="1400" b="1">
                <a:solidFill>
                  <a:srgbClr val="FF5900"/>
                </a:solidFill>
              </a:defRPr>
            </a:pPr>
            <a:r>
              <a:t>Who Owns and Manages the Stablecoins?</a:t>
            </a:r>
          </a:p>
          <a:p>
            <a:pPr>
              <a:spcAft>
                <a:spcPts val="700"/>
              </a:spcAft>
            </a:pPr>
            <a:r>
              <a:rPr b="1" sz="1000">
                <a:solidFill>
                  <a:srgbClr val="FF5900"/>
                </a:solidFill>
                <a:latin typeface="Segoe UI"/>
              </a:rPr>
              <a:t>• Tether (USDT - ~$118.5B): </a:t>
            </a:r>
            <a:r>
              <a:rPr b="0" sz="1000">
                <a:solidFill>
                  <a:srgbClr val="F5EDE4"/>
                </a:solidFill>
                <a:latin typeface="Segoe UI"/>
              </a:rPr>
              <a:t>Operated by Tether Holdings Ltd. (subsidiary of iFinex Inc., parent of Bitfinex). Led by Paolo Ardoino (CEO) &amp; Giancarlo Devasini (CFO). Backed by &gt;$80B in US T-Bills and corporate reserves.</a:t>
            </a:r>
          </a:p>
          <a:p>
            <a:pPr>
              <a:spcAft>
                <a:spcPts val="700"/>
              </a:spcAft>
            </a:pPr>
            <a:r>
              <a:rPr b="1" sz="1000">
                <a:solidFill>
                  <a:srgbClr val="FF5900"/>
                </a:solidFill>
                <a:latin typeface="Segoe UI"/>
              </a:rPr>
              <a:t>• USD Coin (USDC - ~$35.2B): </a:t>
            </a:r>
            <a:r>
              <a:rPr b="0" sz="1000">
                <a:solidFill>
                  <a:srgbClr val="F5EDE4"/>
                </a:solidFill>
                <a:latin typeface="Segoe UI"/>
              </a:rPr>
              <a:t>Issued by Circle Internet Financial (CEO: Jeremy Allaire). US regulated financial institution and EU MiCA-compliant entity; reserves held at BNY Mellon and audited monthly by Deloitte.</a:t>
            </a:r>
          </a:p>
          <a:p>
            <a:pPr>
              <a:spcAft>
                <a:spcPts val="700"/>
              </a:spcAft>
            </a:pPr>
            <a:r>
              <a:rPr b="1" sz="1000">
                <a:solidFill>
                  <a:srgbClr val="FF5900"/>
                </a:solidFill>
                <a:latin typeface="Segoe UI"/>
              </a:rPr>
              <a:t>• USDS / DAI (~$5.4B): </a:t>
            </a:r>
            <a:r>
              <a:rPr b="0" sz="1000">
                <a:solidFill>
                  <a:srgbClr val="F5EDE4"/>
                </a:solidFill>
                <a:latin typeface="Segoe UI"/>
              </a:rPr>
              <a:t>Sky Protocol (formerly MakerDAO, founded by Rune Christensen). Governed via decentralized on-chain voting by MKR/SKY token holders.</a:t>
            </a:r>
          </a:p>
          <a:p>
            <a:pPr>
              <a:spcAft>
                <a:spcPts val="700"/>
              </a:spcAft>
            </a:pPr>
            <a:r>
              <a:rPr b="1" sz="1000">
                <a:solidFill>
                  <a:srgbClr val="FF5900"/>
                </a:solidFill>
                <a:latin typeface="Segoe UI"/>
              </a:rPr>
              <a:t>• First Digital USD (FDUSD - ~$2.8B): </a:t>
            </a:r>
            <a:r>
              <a:rPr b="0" sz="1000">
                <a:solidFill>
                  <a:srgbClr val="F5EDE4"/>
                </a:solidFill>
                <a:latin typeface="Segoe UI"/>
              </a:rPr>
              <a:t>Issued by FD121 Limited (Hong Kong Trust, filial of First Digital Labs). Adopted heavily by Binance post-BUSD phaseout.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IDENTITY &amp; CRYPTOGRAPHY</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What are Crypto Wallets? Keys, Custody Models, and Addresses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14/24</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The Cryptographic Triad of a Wallet</a:t>
            </a:r>
          </a:p>
          <a:p>
            <a:pPr>
              <a:spcAft>
                <a:spcPts val="800"/>
              </a:spcAft>
            </a:pPr>
            <a:r>
              <a:rPr b="1" sz="1100">
                <a:solidFill>
                  <a:srgbClr val="DA4100"/>
                </a:solidFill>
                <a:latin typeface="Segoe UI"/>
              </a:rPr>
              <a:t>• Wallets Store Keys, Not Coins: </a:t>
            </a:r>
            <a:r>
              <a:rPr b="0" sz="1100">
                <a:solidFill>
                  <a:srgbClr val="21140E"/>
                </a:solidFill>
                <a:latin typeface="Segoe UI"/>
              </a:rPr>
              <a:t>Tokens reside immutably on the public blockchain; the wallet merely stores the cryptographic keys required to sign and authorize transfers.</a:t>
            </a:r>
          </a:p>
          <a:p>
            <a:pPr>
              <a:spcAft>
                <a:spcPts val="800"/>
              </a:spcAft>
            </a:pPr>
            <a:r>
              <a:rPr b="1" sz="1100">
                <a:solidFill>
                  <a:srgbClr val="DA4100"/>
                </a:solidFill>
                <a:latin typeface="Segoe UI"/>
              </a:rPr>
              <a:t>• 1. Private Key: </a:t>
            </a:r>
            <a:r>
              <a:rPr b="0" sz="1100">
                <a:solidFill>
                  <a:srgbClr val="21140E"/>
                </a:solidFill>
                <a:latin typeface="Segoe UI"/>
              </a:rPr>
              <a:t>A 256-bit random integer kept strictly secret. It serves as the sovereign digital signature authorizing the spending of funds.</a:t>
            </a:r>
          </a:p>
          <a:p>
            <a:pPr>
              <a:spcAft>
                <a:spcPts val="800"/>
              </a:spcAft>
            </a:pPr>
            <a:r>
              <a:rPr b="1" sz="1100">
                <a:solidFill>
                  <a:srgbClr val="DA4100"/>
                </a:solidFill>
                <a:latin typeface="Segoe UI"/>
              </a:rPr>
              <a:t>• 2. Public Key: </a:t>
            </a:r>
            <a:r>
              <a:rPr b="0" sz="1100">
                <a:solidFill>
                  <a:srgbClr val="21140E"/>
                </a:solidFill>
                <a:latin typeface="Segoe UI"/>
              </a:rPr>
              <a:t>Mathematically derived from the private key via Elliptic Curve Cryptography (secp256k1). Computationally irreversible.</a:t>
            </a:r>
          </a:p>
          <a:p>
            <a:pPr>
              <a:spcAft>
                <a:spcPts val="800"/>
              </a:spcAft>
            </a:pPr>
            <a:r>
              <a:rPr b="1" sz="1100">
                <a:solidFill>
                  <a:srgbClr val="DA4100"/>
                </a:solidFill>
                <a:latin typeface="Segoe UI"/>
              </a:rPr>
              <a:t>• 3. Public Address: </a:t>
            </a:r>
            <a:r>
              <a:rPr b="0" sz="1100">
                <a:solidFill>
                  <a:srgbClr val="21140E"/>
                </a:solidFill>
                <a:latin typeface="Segoe UI"/>
              </a:rPr>
              <a:t>One-way cryptographic hash of the public key (SHA-256 + RIPEMD-160 in BTC, Keccak-256 in ETH: '0x...'). Functions as the public bank account number.</a:t>
            </a:r>
          </a:p>
          <a:p>
            <a:pPr>
              <a:spcAft>
                <a:spcPts val="800"/>
              </a:spcAft>
            </a:pPr>
            <a:r>
              <a:rPr b="1" sz="1100">
                <a:solidFill>
                  <a:srgbClr val="DA4100"/>
                </a:solidFill>
                <a:latin typeface="Segoe UI"/>
              </a:rPr>
              <a:t>• BIP-39 Mnemonic Seed Phrase: </a:t>
            </a:r>
            <a:r>
              <a:rPr b="0" sz="1100">
                <a:solidFill>
                  <a:srgbClr val="21140E"/>
                </a:solidFill>
                <a:latin typeface="Segoe UI"/>
              </a:rPr>
              <a:t>A standardized 12 or 24-word sequence that deterministically regenerates all hierarchical keys (HD Wallets).</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Custody Models &amp; Security Profiles</a:t>
            </a:r>
          </a:p>
          <a:p>
            <a:pPr>
              <a:spcAft>
                <a:spcPts val="900"/>
              </a:spcAft>
            </a:pPr>
            <a:r>
              <a:rPr b="1" sz="1100">
                <a:solidFill>
                  <a:srgbClr val="FF5900"/>
                </a:solidFill>
                <a:latin typeface="Segoe UI"/>
              </a:rPr>
              <a:t>• Hot Wallets (Online): </a:t>
            </a:r>
            <a:r>
              <a:rPr b="0" sz="1100">
                <a:solidFill>
                  <a:srgbClr val="F5EDE4"/>
                </a:solidFill>
                <a:latin typeface="Segoe UI"/>
              </a:rPr>
              <a:t>Software wallets connected to the internet (MetaMask, Phantom, Trust Wallet). Fast and convenient for daily trading, but vulnerable to malicious drainers and phishing.</a:t>
            </a:r>
          </a:p>
          <a:p>
            <a:pPr>
              <a:spcAft>
                <a:spcPts val="900"/>
              </a:spcAft>
            </a:pPr>
            <a:r>
              <a:rPr b="1" sz="1100">
                <a:solidFill>
                  <a:srgbClr val="FF5900"/>
                </a:solidFill>
                <a:latin typeface="Segoe UI"/>
              </a:rPr>
              <a:t>• Cold Wallets (Air-Gapped): </a:t>
            </a:r>
            <a:r>
              <a:rPr b="0" sz="1100">
                <a:solidFill>
                  <a:srgbClr val="F5EDE4"/>
                </a:solidFill>
                <a:latin typeface="Segoe UI"/>
              </a:rPr>
              <a:t>Isolated physical hardware devices (Ledger, Trezor). Private keys never touch an internet-connected operating system; transactions are signed internally.</a:t>
            </a:r>
          </a:p>
          <a:p>
            <a:pPr>
              <a:spcAft>
                <a:spcPts val="900"/>
              </a:spcAft>
            </a:pPr>
            <a:r>
              <a:rPr b="1" sz="1100">
                <a:solidFill>
                  <a:srgbClr val="FF5900"/>
                </a:solidFill>
                <a:latin typeface="Segoe UI"/>
              </a:rPr>
              <a:t>• Custodial vs. Non-Custodial: </a:t>
            </a:r>
            <a:r>
              <a:rPr b="0" sz="1100">
                <a:solidFill>
                  <a:srgbClr val="F5EDE4"/>
                </a:solidFill>
                <a:latin typeface="Segoe UI"/>
              </a:rPr>
              <a:t>'Not your keys, not your coins.' On centralized exchanges (Binance, Coinbase), users forfeit technical custody to omnibus exchange balance sheets.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EXECUTION MECHANICS</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How Trades and Transfers Happen Between Wallets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15/24</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Direct On-Chain Wallet Transfers</a:t>
            </a:r>
          </a:p>
          <a:p>
            <a:pPr>
              <a:spcAft>
                <a:spcPts val="800"/>
              </a:spcAft>
            </a:pPr>
            <a:r>
              <a:rPr b="1" sz="1100">
                <a:solidFill>
                  <a:srgbClr val="DA4100"/>
                </a:solidFill>
                <a:latin typeface="Segoe UI"/>
              </a:rPr>
              <a:t>1. Payload Construction: </a:t>
            </a:r>
            <a:r>
              <a:rPr b="0" sz="1100">
                <a:solidFill>
                  <a:srgbClr val="21140E"/>
                </a:solidFill>
                <a:latin typeface="Segoe UI"/>
              </a:rPr>
              <a:t>Sending wallet specifies the destination address, transfer amount, nonce, and the maximum gas fee offered.</a:t>
            </a:r>
          </a:p>
          <a:p>
            <a:pPr>
              <a:spcAft>
                <a:spcPts val="800"/>
              </a:spcAft>
            </a:pPr>
            <a:r>
              <a:rPr b="1" sz="1100">
                <a:solidFill>
                  <a:srgbClr val="DA4100"/>
                </a:solidFill>
                <a:latin typeface="Segoe UI"/>
              </a:rPr>
              <a:t>2. Digital Signature Generation: </a:t>
            </a:r>
            <a:r>
              <a:rPr b="0" sz="1100">
                <a:solidFill>
                  <a:srgbClr val="21140E"/>
                </a:solidFill>
                <a:latin typeface="Segoe UI"/>
              </a:rPr>
              <a:t>The transaction hash is signed using ECDSA and the sender's private key, proving mathematical ownership without revealing the key.</a:t>
            </a:r>
          </a:p>
          <a:p>
            <a:pPr>
              <a:spcAft>
                <a:spcPts val="800"/>
              </a:spcAft>
            </a:pPr>
            <a:r>
              <a:rPr b="1" sz="1100">
                <a:solidFill>
                  <a:srgbClr val="DA4100"/>
                </a:solidFill>
                <a:latin typeface="Segoe UI"/>
              </a:rPr>
              <a:t>3. P2P Mempool Broadcasting: </a:t>
            </a:r>
            <a:r>
              <a:rPr b="0" sz="1100">
                <a:solidFill>
                  <a:srgbClr val="21140E"/>
                </a:solidFill>
                <a:latin typeface="Segoe UI"/>
              </a:rPr>
              <a:t>The signed payload is propagated to peer nodes, verified for sufficient funds and correct nonce, and queued in the mempool.</a:t>
            </a:r>
          </a:p>
          <a:p>
            <a:pPr>
              <a:spcAft>
                <a:spcPts val="800"/>
              </a:spcAft>
            </a:pPr>
            <a:r>
              <a:rPr b="1" sz="1100">
                <a:solidFill>
                  <a:srgbClr val="DA4100"/>
                </a:solidFill>
                <a:latin typeface="Segoe UI"/>
              </a:rPr>
              <a:t>4. Block Inclusion &amp; Finality: </a:t>
            </a:r>
            <a:r>
              <a:rPr b="0" sz="1100">
                <a:solidFill>
                  <a:srgbClr val="21140E"/>
                </a:solidFill>
                <a:latin typeface="Segoe UI"/>
              </a:rPr>
              <a:t>A validator batches the transfer into an approved block; upon inclusion, account balances update irreversibly on the global ledger.</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Trading Execution: CEX vs. DEX</a:t>
            </a:r>
          </a:p>
          <a:p>
            <a:pPr>
              <a:spcAft>
                <a:spcPts val="900"/>
              </a:spcAft>
            </a:pPr>
            <a:r>
              <a:rPr b="1" sz="1100">
                <a:solidFill>
                  <a:srgbClr val="FF5900"/>
                </a:solidFill>
                <a:latin typeface="Segoe UI"/>
              </a:rPr>
              <a:t>• CEX Off-Chain Execution: </a:t>
            </a:r>
            <a:r>
              <a:rPr b="0" sz="1100">
                <a:solidFill>
                  <a:srgbClr val="F5EDE4"/>
                </a:solidFill>
                <a:latin typeface="Segoe UI"/>
              </a:rPr>
              <a:t>On Binance or Coinbase, trades DO NOT touch the blockchain. Orders match in centralized in-memory databases in microseconds with zero gas. Only deposits and withdrawals hit the ledger.</a:t>
            </a:r>
          </a:p>
          <a:p>
            <a:pPr>
              <a:spcAft>
                <a:spcPts val="900"/>
              </a:spcAft>
            </a:pPr>
            <a:r>
              <a:rPr b="1" sz="1100">
                <a:solidFill>
                  <a:srgbClr val="FF5900"/>
                </a:solidFill>
                <a:latin typeface="Segoe UI"/>
              </a:rPr>
              <a:t>• DEX On-Chain Swaps (AMM): </a:t>
            </a:r>
            <a:r>
              <a:rPr b="0" sz="1100">
                <a:solidFill>
                  <a:srgbClr val="F5EDE4"/>
                </a:solidFill>
                <a:latin typeface="Segoe UI"/>
              </a:rPr>
              <a:t>On Uniswap or Raydium, trades execute against on-chain Liquidity Pools governed by constant product formulas (x · y = k). Every trade is a smart contract transaction.</a:t>
            </a:r>
          </a:p>
          <a:p>
            <a:pPr>
              <a:spcAft>
                <a:spcPts val="900"/>
              </a:spcAft>
            </a:pPr>
            <a:r>
              <a:rPr b="1" sz="1100">
                <a:solidFill>
                  <a:srgbClr val="FF5900"/>
                </a:solidFill>
                <a:latin typeface="Segoe UI"/>
              </a:rPr>
              <a:t>• MEV (Maximal Extractable Value): </a:t>
            </a:r>
            <a:r>
              <a:rPr b="0" sz="1100">
                <a:solidFill>
                  <a:srgbClr val="F5EDE4"/>
                </a:solidFill>
                <a:latin typeface="Segoe UI"/>
              </a:rPr>
              <a:t>On DEXs, front-running bots monitor unconfirmed mempool transactions to execute lucrative 'sandwich attacks' via transaction reordering.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TRADFI-CRYPTO BRIDGE</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Fiat On/Off-Ramps &amp; The Central Stablecoin Trading Hub</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16/24</a:t>
            </a:r>
          </a:p>
        </p:txBody>
      </p:sp>
      <p:sp>
        <p:nvSpPr>
          <p:cNvPr id="9" name="Rounded Rectangle 8"/>
          <p:cNvSpPr/>
          <p:nvPr/>
        </p:nvSpPr>
        <p:spPr>
          <a:xfrm>
            <a:off x="731520" y="1554480"/>
            <a:ext cx="10728655" cy="164592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45920"/>
            <a:ext cx="10332720" cy="1371600"/>
          </a:xfrm>
          <a:prstGeom prst="rect">
            <a:avLst/>
          </a:prstGeom>
          <a:noFill/>
        </p:spPr>
        <p:txBody>
          <a:bodyPr wrap="square">
            <a:spAutoFit/>
          </a:bodyPr>
          <a:lstStyle/>
          <a:p>
            <a:pPr>
              <a:spcAft>
                <a:spcPts val="600"/>
              </a:spcAft>
              <a:defRPr sz="1300" b="1">
                <a:solidFill>
                  <a:srgbClr val="FF5900"/>
                </a:solidFill>
              </a:defRPr>
            </a:pPr>
            <a:r>
              <a:t>THE STRUCTURAL FLOW OF CAPITAL: THE STABLECOIN SETTLEMENT HUB</a:t>
            </a:r>
          </a:p>
          <a:p>
            <a:pPr>
              <a:defRPr sz="1050">
                <a:solidFill>
                  <a:srgbClr val="FFFFFF"/>
                </a:solidFill>
                <a:latin typeface="Consolas"/>
              </a:defRPr>
            </a:pPr>
            <a:r>
              <a:t>[FIAT BANK (USD / EUR)]  ─── On-Ramp (ACH/SEPA/Wire with KYC) ───►  [REGULATED EXCHANGE (CEX)]</a:t>
            </a:r>
            <a:br/>
            <a:r>
              <a:t>                     ▼</a:t>
            </a:r>
            <a:br/>
            <a:r>
              <a:t>        [IMMEDIATE CONVERSION TO STABLECOINS (USDT / USDC)]  ◄─── THE LIQUID CORE OF THE MARKET</a:t>
            </a:r>
            <a:br/>
            <a:r>
              <a:t>                     ▼</a:t>
            </a:r>
            <a:br/>
            <a:r>
              <a:t>[ACTIVE TRADING ECOSYSTEM (BTC, ETH, Altcoins, Perpetual Futures, Options, DeFi Yield)]</a:t>
            </a:r>
            <a:br/>
            <a:r>
              <a:t>                     ▼</a:t>
            </a:r>
            <a:br/>
            <a:r>
              <a:t>        [CONVERSION BACK TO STABLECOINS]  ─── Off-Ramp ───►  [FIAT BANK ACCOUNT REDEMPTION]</a:t>
            </a:r>
          </a:p>
        </p:txBody>
      </p:sp>
      <p:sp>
        <p:nvSpPr>
          <p:cNvPr id="11" name="Rounded Rectangle 10"/>
          <p:cNvSpPr/>
          <p:nvPr/>
        </p:nvSpPr>
        <p:spPr>
          <a:xfrm>
            <a:off x="731520" y="3383280"/>
            <a:ext cx="5212080" cy="27432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520440"/>
            <a:ext cx="4846320" cy="2468880"/>
          </a:xfrm>
          <a:prstGeom prst="rect">
            <a:avLst/>
          </a:prstGeom>
          <a:noFill/>
        </p:spPr>
        <p:txBody>
          <a:bodyPr wrap="square">
            <a:spAutoFit/>
          </a:bodyPr>
          <a:lstStyle/>
          <a:p>
            <a:pPr>
              <a:spcAft>
                <a:spcPts val="800"/>
              </a:spcAft>
              <a:defRPr sz="1350" b="1">
                <a:solidFill>
                  <a:srgbClr val="DA4100"/>
                </a:solidFill>
              </a:defRPr>
            </a:pPr>
            <a:r>
              <a:t>Fiat On-Ramp and Off-Ramp Gateways</a:t>
            </a:r>
          </a:p>
          <a:p>
            <a:pPr>
              <a:spcAft>
                <a:spcPts val="600"/>
              </a:spcAft>
            </a:pPr>
            <a:r>
              <a:rPr b="1" sz="1050">
                <a:solidFill>
                  <a:srgbClr val="DA4100"/>
                </a:solidFill>
                <a:latin typeface="Segoe UI"/>
              </a:rPr>
              <a:t>• The Regulated Chokepoint: </a:t>
            </a:r>
            <a:r>
              <a:rPr b="0" sz="1050">
                <a:solidFill>
                  <a:srgbClr val="21140E"/>
                </a:solidFill>
                <a:latin typeface="Segoe UI"/>
              </a:rPr>
              <a:t>Fiat conversion gateways represent the primary point of strict banking supervision, mandatory KYC, and Suspicious Activity Reporting (SAR).</a:t>
            </a:r>
          </a:p>
          <a:p>
            <a:pPr>
              <a:spcAft>
                <a:spcPts val="600"/>
              </a:spcAft>
            </a:pPr>
            <a:r>
              <a:rPr b="1" sz="1050">
                <a:solidFill>
                  <a:srgbClr val="DA4100"/>
                </a:solidFill>
                <a:latin typeface="Segoe UI"/>
              </a:rPr>
              <a:t>• Traditional Banking Friction: </a:t>
            </a:r>
            <a:r>
              <a:rPr b="0" sz="1050">
                <a:solidFill>
                  <a:srgbClr val="21140E"/>
                </a:solidFill>
                <a:latin typeface="Segoe UI"/>
              </a:rPr>
              <a:t>Commercial banks operate on rigid clearing house schedules and frequently restrict direct wires to cryptocurrency entities.</a:t>
            </a:r>
          </a:p>
        </p:txBody>
      </p:sp>
      <p:sp>
        <p:nvSpPr>
          <p:cNvPr id="13" name="Rounded Rectangle 12"/>
          <p:cNvSpPr/>
          <p:nvPr/>
        </p:nvSpPr>
        <p:spPr>
          <a:xfrm>
            <a:off x="6245352" y="3383280"/>
            <a:ext cx="5212080" cy="2743200"/>
          </a:xfrm>
          <a:prstGeom prst="roundRect">
            <a:avLst>
              <a:gd name="adj" fmla="val 4000"/>
            </a:avLst>
          </a:prstGeom>
          <a:solidFill>
            <a:srgbClr val="FFFFFF"/>
          </a:solidFill>
          <a:ln w="22860">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3520440"/>
            <a:ext cx="4846320" cy="2468880"/>
          </a:xfrm>
          <a:prstGeom prst="rect">
            <a:avLst/>
          </a:prstGeom>
          <a:noFill/>
        </p:spPr>
        <p:txBody>
          <a:bodyPr wrap="square">
            <a:spAutoFit/>
          </a:bodyPr>
          <a:lstStyle/>
          <a:p>
            <a:pPr>
              <a:spcAft>
                <a:spcPts val="800"/>
              </a:spcAft>
              <a:defRPr sz="1350" b="1">
                <a:solidFill>
                  <a:srgbClr val="3D2314"/>
                </a:solidFill>
              </a:defRPr>
            </a:pPr>
            <a:r>
              <a:t>Why Do Traders Use Stablecoins, Not Fiat?</a:t>
            </a:r>
          </a:p>
          <a:p>
            <a:pPr>
              <a:spcAft>
                <a:spcPts val="600"/>
              </a:spcAft>
            </a:pPr>
            <a:r>
              <a:rPr b="1" sz="1050">
                <a:solidFill>
                  <a:srgbClr val="3D2314"/>
                </a:solidFill>
                <a:latin typeface="Segoe UI"/>
              </a:rPr>
              <a:t>• Universal Quote Asset: </a:t>
            </a:r>
            <a:r>
              <a:rPr b="0" sz="1050">
                <a:solidFill>
                  <a:srgbClr val="21140E"/>
                </a:solidFill>
                <a:latin typeface="Segoe UI"/>
              </a:rPr>
              <a:t>&gt;85% of active trading pairs on global CEXs quote against USDT or USDC (e.g., BTC/USDT), not fiat USD or EUR.</a:t>
            </a:r>
          </a:p>
          <a:p>
            <a:pPr>
              <a:spcAft>
                <a:spcPts val="600"/>
              </a:spcAft>
            </a:pPr>
            <a:r>
              <a:rPr b="1" sz="1050">
                <a:solidFill>
                  <a:srgbClr val="3D2314"/>
                </a:solidFill>
                <a:latin typeface="Segoe UI"/>
              </a:rPr>
              <a:t>• 24/7/365 Continuous Liquidity: </a:t>
            </a:r>
            <a:r>
              <a:rPr b="0" sz="1050">
                <a:solidFill>
                  <a:srgbClr val="21140E"/>
                </a:solidFill>
                <a:latin typeface="Segoe UI"/>
              </a:rPr>
              <a:t>Allows institutional desks to rebalance capital and execute cross-exchange arbitrage on weekends without banking delays.</a:t>
            </a:r>
          </a:p>
          <a:p>
            <a:pPr>
              <a:spcAft>
                <a:spcPts val="600"/>
              </a:spcAft>
            </a:pPr>
            <a:r>
              <a:rPr b="1" sz="1050">
                <a:solidFill>
                  <a:srgbClr val="3D2314"/>
                </a:solidFill>
                <a:latin typeface="Segoe UI"/>
              </a:rPr>
              <a:t>• Global Dollarized Liquidity: </a:t>
            </a:r>
            <a:r>
              <a:rPr b="0" sz="1050">
                <a:solidFill>
                  <a:srgbClr val="21140E"/>
                </a:solidFill>
                <a:latin typeface="Segoe UI"/>
              </a:rPr>
              <a:t>Enables international traders to access synthetic US Dollar purchasing power while circumventing restrictive local capital controls.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FINANCIAL CRIME DYNAMICS</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The Migration of Money Laundering: From Cryptocurrencies to Stablecoins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17/24</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The Structural Shift in Illicit Flows</a:t>
            </a:r>
          </a:p>
          <a:p>
            <a:pPr>
              <a:spcAft>
                <a:spcPts val="800"/>
              </a:spcAft>
            </a:pPr>
            <a:r>
              <a:rPr b="1" sz="1100">
                <a:solidFill>
                  <a:srgbClr val="DA4100"/>
                </a:solidFill>
                <a:latin typeface="Segoe UI"/>
              </a:rPr>
              <a:t>• Bitcoin's Displaced Dominance: </a:t>
            </a:r>
            <a:r>
              <a:rPr b="0" sz="1100">
                <a:solidFill>
                  <a:srgbClr val="21140E"/>
                </a:solidFill>
                <a:latin typeface="Segoe UI"/>
              </a:rPr>
              <a:t>Prior to 2020, Bitcoin was the primary vehicle for illicit crypto transactions. By 2023–2026, over 60–70% of total illicit volume migrated to **Stablecoins (predominantly USDT on TRON - TRC20)**.</a:t>
            </a:r>
          </a:p>
          <a:p>
            <a:pPr>
              <a:spcAft>
                <a:spcPts val="800"/>
              </a:spcAft>
            </a:pPr>
            <a:r>
              <a:rPr b="1" sz="1100">
                <a:solidFill>
                  <a:srgbClr val="DA4100"/>
                </a:solidFill>
                <a:latin typeface="Segoe UI"/>
              </a:rPr>
              <a:t>• Organized Syndicate Adoption: </a:t>
            </a:r>
            <a:r>
              <a:rPr b="0" sz="1100">
                <a:solidFill>
                  <a:srgbClr val="21140E"/>
                </a:solidFill>
                <a:latin typeface="Segoe UI"/>
              </a:rPr>
              <a:t>UNODC and blockchain forensic reports demonstrate that large-scale transnational laundering (narcotics, cyber-fraud, sanctions evasion) operates primarily in stablecoins.</a:t>
            </a:r>
          </a:p>
          <a:p>
            <a:pPr>
              <a:spcAft>
                <a:spcPts val="800"/>
              </a:spcAft>
            </a:pPr>
            <a:r>
              <a:rPr b="1" sz="1100">
                <a:solidFill>
                  <a:srgbClr val="DA4100"/>
                </a:solidFill>
                <a:latin typeface="Segoe UI"/>
              </a:rPr>
              <a:t>• Specialized Shadow Infrastructure: </a:t>
            </a:r>
            <a:r>
              <a:rPr b="0" sz="1100">
                <a:solidFill>
                  <a:srgbClr val="21140E"/>
                </a:solidFill>
                <a:latin typeface="Segoe UI"/>
              </a:rPr>
              <a:t>Proliferation of unregulated Over-The-Counter (OTC) broker desks and digital guarantor markets settling billions in illicit proceeds strictly via USDT.</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4 Core Economic Drivers for Laundering</a:t>
            </a:r>
          </a:p>
          <a:p>
            <a:pPr>
              <a:spcAft>
                <a:spcPts val="800"/>
              </a:spcAft>
            </a:pPr>
            <a:r>
              <a:rPr b="1" sz="1100">
                <a:solidFill>
                  <a:srgbClr val="FF5900"/>
                </a:solidFill>
                <a:latin typeface="Segoe UI"/>
              </a:rPr>
              <a:t>1. Elimination of Volatility Risk: </a:t>
            </a:r>
            <a:r>
              <a:rPr b="0" sz="1100">
                <a:solidFill>
                  <a:srgbClr val="F5EDE4"/>
                </a:solidFill>
                <a:latin typeface="Segoe UI"/>
              </a:rPr>
              <a:t>Laundering requires multi-hop layering. With BTC or ETH, a 15% intraday market crash erodes criminal proceeds. Stablecoins guarantee $1M remains $1M throughout the wash cycle.</a:t>
            </a:r>
          </a:p>
          <a:p>
            <a:pPr>
              <a:spcAft>
                <a:spcPts val="800"/>
              </a:spcAft>
            </a:pPr>
            <a:r>
              <a:rPr b="1" sz="1100">
                <a:solidFill>
                  <a:srgbClr val="FF5900"/>
                </a:solidFill>
                <a:latin typeface="Segoe UI"/>
              </a:rPr>
              <a:t>2. Hyper-Liquidity Camouflage: </a:t>
            </a:r>
            <a:r>
              <a:rPr b="0" sz="1100">
                <a:solidFill>
                  <a:srgbClr val="F5EDE4"/>
                </a:solidFill>
                <a:latin typeface="Segoe UI"/>
              </a:rPr>
              <a:t>USDT trades over $50B daily. Large illicit flows easily blend into massive commercial volume without distorting spreads or triggering immediate liquidity flags.</a:t>
            </a:r>
          </a:p>
          <a:p>
            <a:pPr>
              <a:spcAft>
                <a:spcPts val="800"/>
              </a:spcAft>
            </a:pPr>
            <a:r>
              <a:rPr b="1" sz="1100">
                <a:solidFill>
                  <a:srgbClr val="FF5900"/>
                </a:solidFill>
                <a:latin typeface="Segoe UI"/>
              </a:rPr>
              <a:t>3. Sub-Cent Fees &amp; Instant Settlement: </a:t>
            </a:r>
            <a:r>
              <a:rPr b="0" sz="1100">
                <a:solidFill>
                  <a:srgbClr val="F5EDE4"/>
                </a:solidFill>
                <a:latin typeface="Segoe UI"/>
              </a:rPr>
              <a:t>Transferring $1,000,000 on networks like TRON costs less than $2 USD and clears within 3 seconds.</a:t>
            </a:r>
          </a:p>
          <a:p>
            <a:pPr>
              <a:spcAft>
                <a:spcPts val="800"/>
              </a:spcAft>
            </a:pPr>
            <a:r>
              <a:rPr b="1" sz="1100">
                <a:solidFill>
                  <a:srgbClr val="FF5900"/>
                </a:solidFill>
                <a:latin typeface="Segoe UI"/>
              </a:rPr>
              <a:t>4. Parity with Cash Dollars: </a:t>
            </a:r>
            <a:r>
              <a:rPr b="0" sz="1100">
                <a:solidFill>
                  <a:srgbClr val="F5EDE4"/>
                </a:solidFill>
                <a:latin typeface="Segoe UI"/>
              </a:rPr>
              <a:t>Seamless conversion into physical cash across informal Hawala networks and black-market money changers without interacting with the US banking grid.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EMPIRICAL RESEARCH FOCUS</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Paper: The Limits of Blockchain Forensics (Jalal &amp; Westland)</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18/24</a:t>
            </a:r>
          </a:p>
        </p:txBody>
      </p:sp>
      <p:sp>
        <p:nvSpPr>
          <p:cNvPr id="9" name="Rounded Rectangle 8"/>
          <p:cNvSpPr/>
          <p:nvPr/>
        </p:nvSpPr>
        <p:spPr>
          <a:xfrm>
            <a:off x="731520" y="1554480"/>
            <a:ext cx="10728655" cy="18288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91640"/>
            <a:ext cx="10332720" cy="1554480"/>
          </a:xfrm>
          <a:prstGeom prst="rect">
            <a:avLst/>
          </a:prstGeom>
          <a:noFill/>
        </p:spPr>
        <p:txBody>
          <a:bodyPr wrap="square">
            <a:spAutoFit/>
          </a:bodyPr>
          <a:lstStyle/>
          <a:p>
            <a:pPr>
              <a:spcAft>
                <a:spcPts val="600"/>
              </a:spcAft>
              <a:defRPr sz="1500" b="1">
                <a:solidFill>
                  <a:srgbClr val="FF5900"/>
                </a:solidFill>
              </a:defRPr>
            </a:pPr>
            <a:r>
              <a:t>Deconstructing the Mythologies of Automated Governance in Blockchain</a:t>
            </a:r>
          </a:p>
          <a:p>
            <a:pPr>
              <a:spcAft>
                <a:spcPts val="600"/>
              </a:spcAft>
            </a:pPr>
            <a:r>
              <a:rPr b="1" sz="1100">
                <a:solidFill>
                  <a:srgbClr val="FF5900"/>
                </a:solidFill>
                <a:latin typeface="Segoe UI"/>
              </a:rPr>
              <a:t>• Global Reality: </a:t>
            </a:r>
            <a:r>
              <a:rPr b="0" sz="1100">
                <a:solidFill>
                  <a:srgbClr val="F5EDE4"/>
                </a:solidFill>
                <a:latin typeface="Segoe UI"/>
              </a:rPr>
              <a:t>UNODC estimates global money laundering at $800B to $2 Trillion (2–5% of world GDP). Crypto illicit flows represent ~$24.2B (&lt;1% of crypto volume). Yet regulators and the multi-billion-dollar blockchain intelligence industry mandate automated scrutiny far exceeding traditional finance.</a:t>
            </a:r>
          </a:p>
          <a:p>
            <a:pPr>
              <a:spcAft>
                <a:spcPts val="600"/>
              </a:spcAft>
            </a:pPr>
            <a:r>
              <a:rPr b="1" sz="1100">
                <a:solidFill>
                  <a:srgbClr val="FF5900"/>
                </a:solidFill>
                <a:latin typeface="Segoe UI"/>
              </a:rPr>
              <a:t>• The 'Complexity Trap': </a:t>
            </a:r>
            <a:r>
              <a:rPr b="0" sz="1100">
                <a:solidFill>
                  <a:srgbClr val="F5EDE4"/>
                </a:solidFill>
                <a:latin typeface="Segoe UI"/>
              </a:rPr>
              <a:t>Commercial vendors market high-complexity Graph Neural Networks (GNNs) promising automated 'kill-switches' and market alpha. This empirical paper rigorously benchmarks these claims across three central mythologies.</a:t>
            </a:r>
          </a:p>
        </p:txBody>
      </p:sp>
      <p:sp>
        <p:nvSpPr>
          <p:cNvPr id="11" name="Rounded Rectangle 10"/>
          <p:cNvSpPr/>
          <p:nvPr/>
        </p:nvSpPr>
        <p:spPr>
          <a:xfrm>
            <a:off x="731520" y="3566160"/>
            <a:ext cx="2514600" cy="2560320"/>
          </a:xfrm>
          <a:prstGeom prst="roundRect">
            <a:avLst>
              <a:gd name="adj" fmla="val 4000"/>
            </a:avLst>
          </a:prstGeom>
          <a:solidFill>
            <a:srgbClr val="FFFFFF"/>
          </a:solidFill>
          <a:ln w="19050">
            <a:solidFill>
              <a:srgbClr val="DA4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3703320"/>
            <a:ext cx="2295144" cy="2286000"/>
          </a:xfrm>
          <a:prstGeom prst="rect">
            <a:avLst/>
          </a:prstGeom>
          <a:noFill/>
        </p:spPr>
        <p:txBody>
          <a:bodyPr wrap="square">
            <a:spAutoFit/>
          </a:bodyPr>
          <a:lstStyle/>
          <a:p>
            <a:pPr>
              <a:spcAft>
                <a:spcPts val="800"/>
              </a:spcAft>
              <a:defRPr sz="1200" b="1">
                <a:solidFill>
                  <a:srgbClr val="DA4100"/>
                </a:solidFill>
              </a:defRPr>
            </a:pPr>
            <a:r>
              <a:t>RQ1: Structural vs. Behavioral</a:t>
            </a:r>
          </a:p>
          <a:p>
            <a:pPr>
              <a:defRPr sz="1000">
                <a:solidFill>
                  <a:srgbClr val="21140E"/>
                </a:solidFill>
              </a:defRPr>
            </a:pPr>
            <a:r>
              <a:t>Do complex GNNs provide marginal utility over simple behavioral trees in detecting illicit wallets?</a:t>
            </a:r>
          </a:p>
        </p:txBody>
      </p:sp>
      <p:sp>
        <p:nvSpPr>
          <p:cNvPr id="13" name="Rounded Rectangle 12"/>
          <p:cNvSpPr/>
          <p:nvPr/>
        </p:nvSpPr>
        <p:spPr>
          <a:xfrm>
            <a:off x="3465576" y="3566160"/>
            <a:ext cx="2514600" cy="2560320"/>
          </a:xfrm>
          <a:prstGeom prst="roundRect">
            <a:avLst>
              <a:gd name="adj" fmla="val 4000"/>
            </a:avLst>
          </a:prstGeom>
          <a:solidFill>
            <a:srgbClr val="FFFFFF"/>
          </a:solidFill>
          <a:ln w="19050">
            <a:solidFill>
              <a:srgbClr val="3D23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5304" y="3703320"/>
            <a:ext cx="2295144" cy="2286000"/>
          </a:xfrm>
          <a:prstGeom prst="rect">
            <a:avLst/>
          </a:prstGeom>
          <a:noFill/>
        </p:spPr>
        <p:txBody>
          <a:bodyPr wrap="square">
            <a:spAutoFit/>
          </a:bodyPr>
          <a:lstStyle/>
          <a:p>
            <a:pPr>
              <a:spcAft>
                <a:spcPts val="800"/>
              </a:spcAft>
              <a:defRPr sz="1200" b="1">
                <a:solidFill>
                  <a:srgbClr val="3D2314"/>
                </a:solidFill>
              </a:defRPr>
            </a:pPr>
            <a:r>
              <a:t>RQ2: Market Alpha Prediction</a:t>
            </a:r>
          </a:p>
          <a:p>
            <a:pPr>
              <a:defRPr sz="1000">
                <a:solidFill>
                  <a:srgbClr val="21140E"/>
                </a:solidFill>
              </a:defRPr>
            </a:pPr>
            <a:r>
              <a:t>Do on-chain illicit flows predict next-day price, volatility, or liquidity, or is perceived alpha a data artifact?</a:t>
            </a:r>
          </a:p>
        </p:txBody>
      </p:sp>
      <p:sp>
        <p:nvSpPr>
          <p:cNvPr id="15" name="Rounded Rectangle 14"/>
          <p:cNvSpPr/>
          <p:nvPr/>
        </p:nvSpPr>
        <p:spPr>
          <a:xfrm>
            <a:off x="6199632" y="3566160"/>
            <a:ext cx="2514600" cy="2560320"/>
          </a:xfrm>
          <a:prstGeom prst="roundRect">
            <a:avLst>
              <a:gd name="adj" fmla="val 4000"/>
            </a:avLst>
          </a:prstGeom>
          <a:solidFill>
            <a:srgbClr val="FFFFFF"/>
          </a:solidFill>
          <a:ln w="19050">
            <a:solidFill>
              <a:srgbClr val="DA4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3703320"/>
            <a:ext cx="2295144" cy="2286000"/>
          </a:xfrm>
          <a:prstGeom prst="rect">
            <a:avLst/>
          </a:prstGeom>
          <a:noFill/>
        </p:spPr>
        <p:txBody>
          <a:bodyPr wrap="square">
            <a:spAutoFit/>
          </a:bodyPr>
          <a:lstStyle/>
          <a:p>
            <a:pPr>
              <a:spcAft>
                <a:spcPts val="800"/>
              </a:spcAft>
              <a:defRPr sz="1200" b="1">
                <a:solidFill>
                  <a:srgbClr val="DA4100"/>
                </a:solidFill>
              </a:defRPr>
            </a:pPr>
            <a:r>
              <a:t>RQ3: Standalone Alarms &amp; Rarity</a:t>
            </a:r>
          </a:p>
          <a:p>
            <a:pPr>
              <a:defRPr sz="1000">
                <a:solidFill>
                  <a:srgbClr val="21140E"/>
                </a:solidFill>
              </a:defRPr>
            </a:pPr>
            <a:r>
              <a:t>Can detectors operate as automated standalone kill-switches given extreme attacker rarity and base rates?</a:t>
            </a:r>
          </a:p>
        </p:txBody>
      </p:sp>
      <p:sp>
        <p:nvSpPr>
          <p:cNvPr id="17" name="Rounded Rectangle 16"/>
          <p:cNvSpPr/>
          <p:nvPr/>
        </p:nvSpPr>
        <p:spPr>
          <a:xfrm>
            <a:off x="8933688" y="3566160"/>
            <a:ext cx="2514600" cy="2560320"/>
          </a:xfrm>
          <a:prstGeom prst="roundRect">
            <a:avLst>
              <a:gd name="adj" fmla="val 4000"/>
            </a:avLst>
          </a:prstGeom>
          <a:solidFill>
            <a:srgbClr val="FFFFFF"/>
          </a:solidFill>
          <a:ln w="19050">
            <a:solidFill>
              <a:srgbClr val="3D23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43416" y="3703320"/>
            <a:ext cx="2295144" cy="2286000"/>
          </a:xfrm>
          <a:prstGeom prst="rect">
            <a:avLst/>
          </a:prstGeom>
          <a:noFill/>
        </p:spPr>
        <p:txBody>
          <a:bodyPr wrap="square">
            <a:spAutoFit/>
          </a:bodyPr>
          <a:lstStyle/>
          <a:p>
            <a:pPr>
              <a:spcAft>
                <a:spcPts val="800"/>
              </a:spcAft>
              <a:defRPr sz="1200" b="1">
                <a:solidFill>
                  <a:srgbClr val="3D2314"/>
                </a:solidFill>
              </a:defRPr>
            </a:pPr>
            <a:r>
              <a:t>RQ4: DEX Wash-Trading Screening</a:t>
            </a:r>
          </a:p>
          <a:p>
            <a:pPr>
              <a:defRPr sz="1000">
                <a:solidFill>
                  <a:srgbClr val="21140E"/>
                </a:solidFill>
              </a:defRPr>
            </a:pPr>
            <a:r>
              <a:t>Can wash trading on decentralized exchanges be effectively screened using behavioral microstructural metrics?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JALAL &amp; WESTLAND — RQ1</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Technical Mythology: Graph Neural Networks vs. Tabular Trees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19/24</a:t>
            </a:r>
          </a:p>
        </p:txBody>
      </p:sp>
      <p:sp>
        <p:nvSpPr>
          <p:cNvPr id="9" name="Rounded Rectangle 8"/>
          <p:cNvSpPr/>
          <p:nvPr/>
        </p:nvSpPr>
        <p:spPr>
          <a:xfrm>
            <a:off x="731520" y="1554480"/>
            <a:ext cx="5852160" cy="4572000"/>
          </a:xfrm>
          <a:prstGeom prst="roundRect">
            <a:avLst>
              <a:gd name="adj" fmla="val 4000"/>
            </a:avLst>
          </a:prstGeom>
          <a:solidFill>
            <a:srgbClr val="FFFFFF"/>
          </a:solidFill>
          <a:ln w="1524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rt_model_comparison_rq1_en.png"/>
          <p:cNvPicPr>
            <a:picLocks noChangeAspect="1"/>
          </p:cNvPicPr>
          <p:nvPr/>
        </p:nvPicPr>
        <p:blipFill>
          <a:blip r:embed="rId3"/>
          <a:stretch>
            <a:fillRect/>
          </a:stretch>
        </p:blipFill>
        <p:spPr>
          <a:xfrm>
            <a:off x="822960" y="1691640"/>
            <a:ext cx="5669280" cy="2834640"/>
          </a:xfrm>
          <a:prstGeom prst="rect">
            <a:avLst/>
          </a:prstGeom>
        </p:spPr>
      </p:pic>
      <p:sp>
        <p:nvSpPr>
          <p:cNvPr id="11" name="Rounded Rectangle 10"/>
          <p:cNvSpPr/>
          <p:nvPr/>
        </p:nvSpPr>
        <p:spPr>
          <a:xfrm>
            <a:off x="6858000" y="1554480"/>
            <a:ext cx="457200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1737360"/>
            <a:ext cx="4206240" cy="4114800"/>
          </a:xfrm>
          <a:prstGeom prst="rect">
            <a:avLst/>
          </a:prstGeom>
          <a:noFill/>
        </p:spPr>
        <p:txBody>
          <a:bodyPr wrap="square">
            <a:spAutoFit/>
          </a:bodyPr>
          <a:lstStyle/>
          <a:p>
            <a:pPr>
              <a:spcAft>
                <a:spcPts val="800"/>
              </a:spcAft>
              <a:defRPr sz="1400" b="1">
                <a:solidFill>
                  <a:srgbClr val="FF5900"/>
                </a:solidFill>
              </a:defRPr>
            </a:pPr>
            <a:r>
              <a:t>Deconstructing the Technical Mythology</a:t>
            </a:r>
          </a:p>
          <a:p>
            <a:pPr>
              <a:spcAft>
                <a:spcPts val="700"/>
              </a:spcAft>
            </a:pPr>
            <a:r>
              <a:rPr b="1" sz="1050">
                <a:solidFill>
                  <a:srgbClr val="FF5900"/>
                </a:solidFill>
                <a:latin typeface="Segoe UI"/>
              </a:rPr>
              <a:t>• The Industry Myth: </a:t>
            </a:r>
            <a:r>
              <a:rPr b="0" sz="1050">
                <a:solidFill>
                  <a:srgbClr val="F5EDE4"/>
                </a:solidFill>
                <a:latin typeface="Segoe UI"/>
              </a:rPr>
              <a:t>Vendors claim blockchain's relational graph topology necessitates high-complexity GNNs (GCN, GraphSAGE, GATv2) to identify illicit wallets.</a:t>
            </a:r>
          </a:p>
          <a:p>
            <a:pPr>
              <a:spcAft>
                <a:spcPts val="700"/>
              </a:spcAft>
            </a:pPr>
            <a:r>
              <a:rPr b="1" sz="1050">
                <a:solidFill>
                  <a:srgbClr val="FF5900"/>
                </a:solidFill>
                <a:latin typeface="Segoe UI"/>
              </a:rPr>
              <a:t>• Degree-Matched Protocol: </a:t>
            </a:r>
            <a:r>
              <a:rPr b="0" sz="1050">
                <a:solidFill>
                  <a:srgbClr val="F5EDE4"/>
                </a:solidFill>
                <a:latin typeface="Segoe UI"/>
              </a:rPr>
              <a:t>Pairing each illicit wallet with a normal wallet of identical degree prevents false classification victories achieved simply by flagging high-volume nodes.</a:t>
            </a:r>
          </a:p>
          <a:p>
            <a:pPr>
              <a:spcAft>
                <a:spcPts val="700"/>
              </a:spcAft>
            </a:pPr>
            <a:r>
              <a:rPr b="1" sz="1050">
                <a:solidFill>
                  <a:srgbClr val="FF5900"/>
                </a:solidFill>
                <a:latin typeface="Segoe UI"/>
              </a:rPr>
              <a:t>• On Bitcoin (Flatter Graph, 32% Hubs): </a:t>
            </a:r>
            <a:r>
              <a:rPr b="0" sz="1050">
                <a:solidFill>
                  <a:srgbClr val="F5EDE4"/>
                </a:solidFill>
                <a:latin typeface="Segoe UI"/>
              </a:rPr>
              <a:t>Simple Random Forest wins outright at F1 = 0.935, beating GraphSAGE (0.931) and GAT (0.911). Structural features alone achieve 0.893 vs 0.844 behavioral.</a:t>
            </a:r>
          </a:p>
          <a:p>
            <a:pPr>
              <a:spcAft>
                <a:spcPts val="700"/>
              </a:spcAft>
            </a:pPr>
            <a:r>
              <a:rPr b="1" sz="1050">
                <a:solidFill>
                  <a:srgbClr val="FF5900"/>
                </a:solidFill>
                <a:latin typeface="Segoe UI"/>
              </a:rPr>
              <a:t>• On Shiba &amp; Doge (Top-Heavy Hubs): </a:t>
            </a:r>
            <a:r>
              <a:rPr b="0" sz="1050">
                <a:solidFill>
                  <a:srgbClr val="F5EDE4"/>
                </a:solidFill>
                <a:latin typeface="Segoe UI"/>
              </a:rPr>
              <a:t>Exchange hubs (top 1% hold 48–63% of links) mask topological proximity; behavioral features (wallet age, recency, bursts) dominate completely.</a:t>
            </a:r>
          </a:p>
          <a:p>
            <a:pPr>
              <a:spcAft>
                <a:spcPts val="700"/>
              </a:spcAft>
            </a:pPr>
            <a:r>
              <a:rPr b="1" sz="1050">
                <a:solidFill>
                  <a:srgbClr val="FF5900"/>
                </a:solidFill>
                <a:latin typeface="Segoe UI"/>
              </a:rPr>
              <a:t>• Key Takeaway: </a:t>
            </a:r>
            <a:r>
              <a:rPr b="0" sz="1050">
                <a:solidFill>
                  <a:srgbClr val="F5EDE4"/>
                </a:solidFill>
                <a:latin typeface="Segoe UI"/>
              </a:rPr>
              <a:t>GNNs show no consistent operational advantage; institutions pay a heavy 'complexity premium' for zero marginal utility.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JALAL &amp; WESTLAND — RQ2</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Informational Mythology: The Predictive Null ('The Price Null')</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20/24</a:t>
            </a:r>
          </a:p>
        </p:txBody>
      </p:sp>
      <p:sp>
        <p:nvSpPr>
          <p:cNvPr id="9" name="Rounded Rectangle 8"/>
          <p:cNvSpPr/>
          <p:nvPr/>
        </p:nvSpPr>
        <p:spPr>
          <a:xfrm>
            <a:off x="731520" y="1554480"/>
            <a:ext cx="5303520" cy="4572000"/>
          </a:xfrm>
          <a:prstGeom prst="roundRect">
            <a:avLst>
              <a:gd name="adj" fmla="val 4000"/>
            </a:avLst>
          </a:prstGeom>
          <a:solidFill>
            <a:srgbClr val="FFFFFF"/>
          </a:solidFill>
          <a:ln w="1524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rt_rolling_stability_rq2_en.png"/>
          <p:cNvPicPr>
            <a:picLocks noChangeAspect="1"/>
          </p:cNvPicPr>
          <p:nvPr/>
        </p:nvPicPr>
        <p:blipFill>
          <a:blip r:embed="rId3"/>
          <a:stretch>
            <a:fillRect/>
          </a:stretch>
        </p:blipFill>
        <p:spPr>
          <a:xfrm>
            <a:off x="822960" y="1691640"/>
            <a:ext cx="5120640" cy="2880360"/>
          </a:xfrm>
          <a:prstGeom prst="rect">
            <a:avLst/>
          </a:prstGeom>
        </p:spPr>
      </p:pic>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800"/>
              </a:spcAft>
              <a:defRPr sz="1400" b="1">
                <a:solidFill>
                  <a:srgbClr val="FF5900"/>
                </a:solidFill>
              </a:defRPr>
            </a:pPr>
            <a:r>
              <a:t>The Illusion of 'Alpha' &amp; Forensic Traps</a:t>
            </a:r>
          </a:p>
          <a:p>
            <a:pPr>
              <a:spcAft>
                <a:spcPts val="700"/>
              </a:spcAft>
            </a:pPr>
            <a:r>
              <a:rPr b="1" sz="1050">
                <a:solidFill>
                  <a:srgbClr val="FF5900"/>
                </a:solidFill>
                <a:latin typeface="Segoe UI"/>
              </a:rPr>
              <a:t>• The Industry Myth: </a:t>
            </a:r>
            <a:r>
              <a:rPr b="0" sz="1050">
                <a:solidFill>
                  <a:srgbClr val="F5EDE4"/>
                </a:solidFill>
                <a:latin typeface="Segoe UI"/>
              </a:rPr>
              <a:t>Vendors assert on-chain illicit flows provide leading indicators for asset returns, realized volatility, or liquidity shocks.</a:t>
            </a:r>
          </a:p>
          <a:p>
            <a:pPr>
              <a:spcAft>
                <a:spcPts val="700"/>
              </a:spcAft>
            </a:pPr>
            <a:r>
              <a:rPr b="1" sz="1050">
                <a:solidFill>
                  <a:srgbClr val="FF5900"/>
                </a:solidFill>
                <a:latin typeface="Segoe UI"/>
              </a:rPr>
              <a:t>• Battery of 30 Statistical Tests: </a:t>
            </a:r>
            <a:r>
              <a:rPr b="0" sz="1050">
                <a:solidFill>
                  <a:srgbClr val="F5EDE4"/>
                </a:solidFill>
                <a:latin typeface="Segoe UI"/>
              </a:rPr>
              <a:t>Granger Causality (lags 1–10), HAR-RV-X volatility forecasting, Toda–Yamamoto, and Temporal Fusion Transformers reveal a **robust out-of-sample null**.</a:t>
            </a:r>
          </a:p>
          <a:p>
            <a:pPr>
              <a:spcAft>
                <a:spcPts val="700"/>
              </a:spcAft>
            </a:pPr>
            <a:r>
              <a:rPr b="1" sz="1050">
                <a:solidFill>
                  <a:srgbClr val="FF5900"/>
                </a:solidFill>
                <a:latin typeface="Segoe UI"/>
              </a:rPr>
              <a:t>• Trap 1: Look-Ahead Leak: </a:t>
            </a:r>
            <a:r>
              <a:rPr b="0" sz="1050">
                <a:solidFill>
                  <a:srgbClr val="F5EDE4"/>
                </a:solidFill>
                <a:latin typeface="Segoe UI"/>
              </a:rPr>
              <a:t>Smearing connection lifetime activity backwards produced a fake 7% volatility forecasting gain in Dogecoin (0.934 MSFE). Rebuilt causally in real time, it collapsed to 1.044!</a:t>
            </a:r>
          </a:p>
          <a:p>
            <a:pPr>
              <a:spcAft>
                <a:spcPts val="700"/>
              </a:spcAft>
            </a:pPr>
            <a:r>
              <a:rPr b="1" sz="1050">
                <a:solidFill>
                  <a:srgbClr val="FF5900"/>
                </a:solidFill>
                <a:latin typeface="Segoe UI"/>
              </a:rPr>
              <a:t>• Trap 2: Price-Feed Quoting Artifacts: </a:t>
            </a:r>
            <a:r>
              <a:rPr b="0" sz="1050">
                <a:solidFill>
                  <a:srgbClr val="F5EDE4"/>
                </a:solidFill>
                <a:latin typeface="Segoe UI"/>
              </a:rPr>
              <a:t>Apparent predictive signals appearing on one exchange feed vanished on others, exposed as exchange-specific quoting noise.</a:t>
            </a:r>
          </a:p>
          <a:p>
            <a:pPr>
              <a:spcAft>
                <a:spcPts val="700"/>
              </a:spcAft>
            </a:pPr>
            <a:r>
              <a:rPr b="1" sz="1050">
                <a:solidFill>
                  <a:srgbClr val="FF5900"/>
                </a:solidFill>
                <a:latin typeface="Segoe UI"/>
              </a:rPr>
              <a:t>• Rolling Calibration Failure: </a:t>
            </a:r>
            <a:r>
              <a:rPr b="0" sz="1050">
                <a:solidFill>
                  <a:srgbClr val="F5EDE4"/>
                </a:solidFill>
                <a:latin typeface="Segoe UI"/>
              </a:rPr>
              <a:t>Under rolling windows, the observed liquidity relationship (0.68) clusters near the uninformative null (0.49), far from persistent alpha (0.93).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JALAL &amp; WESTLAND — RQ3</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Operational Mythology: The Base-Rate Fallacy &amp; Review Overload</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21/24</a:t>
            </a:r>
          </a:p>
        </p:txBody>
      </p:sp>
      <p:sp>
        <p:nvSpPr>
          <p:cNvPr id="9" name="Rounded Rectangle 8"/>
          <p:cNvSpPr/>
          <p:nvPr/>
        </p:nvSpPr>
        <p:spPr>
          <a:xfrm>
            <a:off x="731520" y="1554480"/>
            <a:ext cx="5852160" cy="4572000"/>
          </a:xfrm>
          <a:prstGeom prst="roundRect">
            <a:avLst>
              <a:gd name="adj" fmla="val 4000"/>
            </a:avLst>
          </a:prstGeom>
          <a:solidFill>
            <a:srgbClr val="FFFFFF"/>
          </a:solidFill>
          <a:ln w="1524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rt_base_rate_fallacy_en.png"/>
          <p:cNvPicPr>
            <a:picLocks noChangeAspect="1"/>
          </p:cNvPicPr>
          <p:nvPr/>
        </p:nvPicPr>
        <p:blipFill>
          <a:blip r:embed="rId3"/>
          <a:stretch>
            <a:fillRect/>
          </a:stretch>
        </p:blipFill>
        <p:spPr>
          <a:xfrm>
            <a:off x="822960" y="1691640"/>
            <a:ext cx="5669280" cy="2948026"/>
          </a:xfrm>
          <a:prstGeom prst="rect">
            <a:avLst/>
          </a:prstGeom>
        </p:spPr>
      </p:pic>
      <p:sp>
        <p:nvSpPr>
          <p:cNvPr id="11" name="Rounded Rectangle 10"/>
          <p:cNvSpPr/>
          <p:nvPr/>
        </p:nvSpPr>
        <p:spPr>
          <a:xfrm>
            <a:off x="6858000" y="1554480"/>
            <a:ext cx="457200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1737360"/>
            <a:ext cx="4206240" cy="4114800"/>
          </a:xfrm>
          <a:prstGeom prst="rect">
            <a:avLst/>
          </a:prstGeom>
          <a:noFill/>
        </p:spPr>
        <p:txBody>
          <a:bodyPr wrap="square">
            <a:spAutoFit/>
          </a:bodyPr>
          <a:lstStyle/>
          <a:p>
            <a:pPr>
              <a:spcAft>
                <a:spcPts val="800"/>
              </a:spcAft>
              <a:defRPr sz="1400" b="1">
                <a:solidFill>
                  <a:srgbClr val="FF5900"/>
                </a:solidFill>
              </a:defRPr>
            </a:pPr>
            <a:r>
              <a:t>Mathematical Reality (Axelsson, 2000)</a:t>
            </a:r>
          </a:p>
          <a:p>
            <a:pPr>
              <a:spcAft>
                <a:spcPts val="650"/>
              </a:spcAft>
            </a:pPr>
            <a:r>
              <a:rPr b="1" sz="1050">
                <a:solidFill>
                  <a:srgbClr val="FF5900"/>
                </a:solidFill>
                <a:latin typeface="Segoe UI"/>
              </a:rPr>
              <a:t>• Extreme Attacker Rarity (p): </a:t>
            </a:r>
            <a:r>
              <a:rPr b="0" sz="1050">
                <a:solidFill>
                  <a:srgbClr val="F5EDE4"/>
                </a:solidFill>
                <a:latin typeface="Segoe UI"/>
              </a:rPr>
              <a:t>Only ~150 confirmed exploit contracts exist across 37.5M smart contract deployments (p ≈ 4.4 × 10⁻⁶ = 4.4 per million).</a:t>
            </a:r>
          </a:p>
          <a:p>
            <a:pPr>
              <a:spcAft>
                <a:spcPts val="650"/>
              </a:spcAft>
            </a:pPr>
            <a:r>
              <a:rPr b="1" sz="1050">
                <a:solidFill>
                  <a:srgbClr val="FF5900"/>
                </a:solidFill>
                <a:latin typeface="Segoe UI"/>
              </a:rPr>
              <a:t>• Reviews-per-Catch Equation: </a:t>
            </a:r>
            <a:r>
              <a:rPr b="0" sz="1050">
                <a:solidFill>
                  <a:srgbClr val="F5EDE4"/>
                </a:solidFill>
                <a:latin typeface="Segoe UI"/>
              </a:rPr>
              <a:t>Reviews / Catch = [(1 - p) / p] · [FPR_{at recall} / recall]</a:t>
            </a:r>
          </a:p>
          <a:p>
            <a:pPr>
              <a:spcAft>
                <a:spcPts val="650"/>
              </a:spcAft>
            </a:pPr>
            <a:r>
              <a:rPr b="1" sz="1050">
                <a:solidFill>
                  <a:srgbClr val="FF5900"/>
                </a:solidFill>
                <a:latin typeface="Segoe UI"/>
              </a:rPr>
              <a:t>• Overwhelming Operational Burden: </a:t>
            </a:r>
            <a:r>
              <a:rPr b="0" sz="1050">
                <a:solidFill>
                  <a:srgbClr val="F5EDE4"/>
                </a:solidFill>
                <a:latin typeface="Segoe UI"/>
              </a:rPr>
              <a:t>To achieve 90% recall with the XGBoost detector (AUC 0.876), **institutions face 40,700 to 116,700 benign reviews per single true catch**.</a:t>
            </a:r>
          </a:p>
          <a:p>
            <a:pPr>
              <a:spcAft>
                <a:spcPts val="650"/>
              </a:spcAft>
            </a:pPr>
            <a:r>
              <a:rPr b="1" sz="1050">
                <a:solidFill>
                  <a:srgbClr val="FF5900"/>
                </a:solidFill>
                <a:latin typeface="Segoe UI"/>
              </a:rPr>
              <a:t>• 'Kill-Switches' are Infeasible: </a:t>
            </a:r>
            <a:r>
              <a:rPr b="0" sz="1050">
                <a:solidFill>
                  <a:srgbClr val="F5EDE4"/>
                </a:solidFill>
                <a:latin typeface="Segoe UI"/>
              </a:rPr>
              <a:t>Automated autonomous blocking would paralyze tens of thousands of legitimate transactions, halting commercial operations.</a:t>
            </a:r>
          </a:p>
          <a:p>
            <a:pPr>
              <a:spcAft>
                <a:spcPts val="650"/>
              </a:spcAft>
            </a:pPr>
            <a:r>
              <a:rPr b="1" sz="1050">
                <a:solidFill>
                  <a:srgbClr val="FF5900"/>
                </a:solidFill>
                <a:latin typeface="Segoe UI"/>
              </a:rPr>
              <a:t>• Value as a Triage Tool: </a:t>
            </a:r>
            <a:r>
              <a:rPr b="0" sz="1050">
                <a:solidFill>
                  <a:srgbClr val="F5EDE4"/>
                </a:solidFill>
                <a:latin typeface="Segoe UI"/>
              </a:rPr>
              <a:t>The detector IS highly valuable for ranking human review: inspecting the top 1% riskiest contracts provides a **13.3x lift** over base rate.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JALAL &amp; WESTLAND — RQ4</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DEX Manipulation: Wash Trading Detection &amp; The 'Wash-Discount'</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22/24</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400" b="1">
                <a:solidFill>
                  <a:srgbClr val="DA4100"/>
                </a:solidFill>
              </a:defRPr>
            </a:pPr>
            <a:r>
              <a:t>Behavioral Screening Funnel in DEX Pools</a:t>
            </a:r>
          </a:p>
          <a:p>
            <a:pPr>
              <a:spcAft>
                <a:spcPts val="750"/>
              </a:spcAft>
            </a:pPr>
            <a:r>
              <a:rPr b="1" sz="1050">
                <a:solidFill>
                  <a:srgbClr val="DA4100"/>
                </a:solidFill>
                <a:latin typeface="Segoe UI"/>
              </a:rPr>
              <a:t>• The Decentralized Challenge: </a:t>
            </a:r>
            <a:r>
              <a:rPr b="0" sz="1050">
                <a:solidFill>
                  <a:srgbClr val="21140E"/>
                </a:solidFill>
                <a:latin typeface="Segoe UI"/>
              </a:rPr>
              <a:t>In permissionless DEX environments lacking KYC, traders can generate synthetic volume across self-controlled addresses at zero spread cost.</a:t>
            </a:r>
          </a:p>
          <a:p>
            <a:pPr>
              <a:spcAft>
                <a:spcPts val="750"/>
              </a:spcAft>
            </a:pPr>
            <a:r>
              <a:rPr b="1" sz="1050">
                <a:solidFill>
                  <a:srgbClr val="DA4100"/>
                </a:solidFill>
                <a:latin typeface="Segoe UI"/>
              </a:rPr>
              <a:t>1. Activity Threshold (K ≥ 4): </a:t>
            </a:r>
            <a:r>
              <a:rPr b="0" sz="1050">
                <a:solidFill>
                  <a:srgbClr val="21140E"/>
                </a:solidFill>
                <a:latin typeface="Segoe UI"/>
              </a:rPr>
              <a:t>Minimum weekly swap count executed by the trader address.</a:t>
            </a:r>
          </a:p>
          <a:p>
            <a:pPr>
              <a:spcAft>
                <a:spcPts val="750"/>
              </a:spcAft>
            </a:pPr>
            <a:r>
              <a:rPr b="1" sz="1050">
                <a:solidFill>
                  <a:srgbClr val="DA4100"/>
                </a:solidFill>
                <a:latin typeface="Segoe UI"/>
              </a:rPr>
              <a:t>2. Directional Balance (≥ 0.60): </a:t>
            </a:r>
            <a:r>
              <a:rPr b="0" sz="1050">
                <a:solidFill>
                  <a:srgbClr val="21140E"/>
                </a:solidFill>
                <a:latin typeface="Segoe UI"/>
              </a:rPr>
              <a:t>Symmetric buy/sell volume balance: min(buys, sells) / max(buys, sells) ≥ 0.60.</a:t>
            </a:r>
          </a:p>
          <a:p>
            <a:pPr>
              <a:spcAft>
                <a:spcPts val="750"/>
              </a:spcAft>
            </a:pPr>
            <a:r>
              <a:rPr b="1" sz="1050">
                <a:solidFill>
                  <a:srgbClr val="DA4100"/>
                </a:solidFill>
                <a:latin typeface="Segoe UI"/>
              </a:rPr>
              <a:t>3. Pool Volume Share (≥ 30%): </a:t>
            </a:r>
            <a:r>
              <a:rPr b="0" sz="1050">
                <a:solidFill>
                  <a:srgbClr val="21140E"/>
                </a:solidFill>
                <a:latin typeface="Segoe UI"/>
              </a:rPr>
              <a:t>Address swap count accounts for ≥ 30% of total weekly pool transactions.</a:t>
            </a:r>
          </a:p>
          <a:p>
            <a:pPr>
              <a:spcAft>
                <a:spcPts val="750"/>
              </a:spcAft>
            </a:pPr>
            <a:r>
              <a:rPr b="1" sz="1050">
                <a:solidFill>
                  <a:srgbClr val="DA4100"/>
                </a:solidFill>
                <a:latin typeface="Segoe UI"/>
              </a:rPr>
              <a:t>4. Inventory Neutrality (&lt; 0.10): </a:t>
            </a:r>
            <a:r>
              <a:rPr b="0" sz="1050">
                <a:solidFill>
                  <a:srgbClr val="21140E"/>
                </a:solidFill>
                <a:latin typeface="Segoe UI"/>
              </a:rPr>
              <a:t>Net-to-gross flow ratio below 10% in both tokens (recycling inventory without taking economic risk).</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400" b="1">
                <a:solidFill>
                  <a:srgbClr val="FF5900"/>
                </a:solidFill>
              </a:defRPr>
            </a:pPr>
            <a:r>
              <a:t>The 'Wash-Discount' Metric (WD_i)</a:t>
            </a:r>
          </a:p>
          <a:p>
            <a:pPr>
              <a:spcAft>
                <a:spcPts val="800"/>
              </a:spcAft>
            </a:pPr>
            <a:r>
              <a:rPr b="1" sz="1050">
                <a:solidFill>
                  <a:srgbClr val="FF5900"/>
                </a:solidFill>
                <a:latin typeface="Segoe UI"/>
              </a:rPr>
              <a:t>• Beneish M-Score Analog: </a:t>
            </a:r>
            <a:r>
              <a:rPr b="0" sz="1050">
                <a:solidFill>
                  <a:srgbClr val="F5EDE4"/>
                </a:solidFill>
                <a:latin typeface="Segoe UI"/>
              </a:rPr>
              <a:t>Inspired by forensic accounting metrics designed to detect earnings manipulation.</a:t>
            </a:r>
          </a:p>
          <a:p>
            <a:pPr>
              <a:spcAft>
                <a:spcPts val="800"/>
              </a:spcAft>
            </a:pPr>
            <a:r>
              <a:rPr b="1" sz="1050">
                <a:solidFill>
                  <a:srgbClr val="FF5900"/>
                </a:solidFill>
                <a:latin typeface="Segoe UI"/>
              </a:rPr>
              <a:t>• Mathematical Formulation: </a:t>
            </a:r>
            <a:r>
              <a:rPr b="0" sz="1050">
                <a:solidFill>
                  <a:srgbClr val="F5EDE4"/>
                </a:solidFill>
                <a:latin typeface="Segoe UI"/>
              </a:rPr>
              <a:t>WD_i = 1 - (Volume_{organic} / Volume_{reported}) = Σ_{a ∈ C_i} V_{a,i} / V_{i,reported}</a:t>
            </a:r>
          </a:p>
          <a:p>
            <a:pPr>
              <a:spcAft>
                <a:spcPts val="800"/>
              </a:spcAft>
            </a:pPr>
            <a:r>
              <a:rPr b="1" sz="1050">
                <a:solidFill>
                  <a:srgbClr val="FF5900"/>
                </a:solidFill>
                <a:latin typeface="Segoe UI"/>
              </a:rPr>
              <a:t>• Practical Utility for Aggregators: </a:t>
            </a:r>
            <a:r>
              <a:rPr b="0" sz="1050">
                <a:solidFill>
                  <a:srgbClr val="F5EDE4"/>
                </a:solidFill>
                <a:latin typeface="Segoe UI"/>
              </a:rPr>
              <a:t>Allows platforms like CoinMarketCap and CoinGecko to restate reported pool volumes to true underlying economic liquidity.</a:t>
            </a:r>
          </a:p>
          <a:p>
            <a:pPr>
              <a:spcAft>
                <a:spcPts val="800"/>
              </a:spcAft>
            </a:pPr>
            <a:r>
              <a:rPr b="1" sz="1050">
                <a:solidFill>
                  <a:srgbClr val="FF5900"/>
                </a:solidFill>
                <a:latin typeface="Segoe UI"/>
              </a:rPr>
              <a:t>• Methodological Caution: </a:t>
            </a:r>
            <a:r>
              <a:rPr b="0" sz="1050">
                <a:solidFill>
                  <a:srgbClr val="F5EDE4"/>
                </a:solidFill>
                <a:latin typeface="Segoe UI"/>
              </a:rPr>
              <a:t>Flagged candidate activity requires contextual validation to separate manipulation from legitimate market-making or arbitrage.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JALAL &amp; WESTLAND — IMPLICATIONS</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The Label Staleness Crisis &amp; Regulatory Policy Guidance</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23/24</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400" b="1">
                <a:solidFill>
                  <a:srgbClr val="DA4100"/>
                </a:solidFill>
              </a:defRPr>
            </a:pPr>
            <a:r>
              <a:t>The Rapid Half-Life of Public Labels</a:t>
            </a:r>
          </a:p>
          <a:p>
            <a:pPr>
              <a:spcAft>
                <a:spcPts val="800"/>
              </a:spcAft>
            </a:pPr>
            <a:r>
              <a:rPr b="1" sz="1050">
                <a:solidFill>
                  <a:srgbClr val="DA4100"/>
                </a:solidFill>
                <a:latin typeface="Segoe UI"/>
              </a:rPr>
              <a:t>• ~2-Year Activity Half-Life in Ethereum: </a:t>
            </a:r>
            <a:r>
              <a:rPr b="0" sz="1050">
                <a:solidFill>
                  <a:srgbClr val="21140E"/>
                </a:solidFill>
                <a:latin typeface="Segoe UI"/>
              </a:rPr>
              <a:t>Across 3,279 examined illicit addresses, active usage decays by 50% in two years. **Only 12.9% of flagged addresses remained active into 2024**.</a:t>
            </a:r>
          </a:p>
          <a:p>
            <a:pPr>
              <a:spcAft>
                <a:spcPts val="800"/>
              </a:spcAft>
            </a:pPr>
            <a:r>
              <a:rPr b="1" sz="1050">
                <a:solidFill>
                  <a:srgbClr val="DA4100"/>
                </a:solidFill>
                <a:latin typeface="Segoe UI"/>
              </a:rPr>
              <a:t>• Complete Inactivity in Dogecoin (0%): </a:t>
            </a:r>
            <a:r>
              <a:rPr b="0" sz="1050">
                <a:solidFill>
                  <a:srgbClr val="21140E"/>
                </a:solidFill>
                <a:latin typeface="Segoe UI"/>
              </a:rPr>
              <a:t>The scam cluster neighborhood in Dogecoin became completely dormant by 2022 (~0% active into 2024).</a:t>
            </a:r>
          </a:p>
          <a:p>
            <a:pPr>
              <a:spcAft>
                <a:spcPts val="800"/>
              </a:spcAft>
            </a:pPr>
            <a:r>
              <a:rPr b="1" sz="1050">
                <a:solidFill>
                  <a:srgbClr val="DA4100"/>
                </a:solidFill>
                <a:latin typeface="Segoe UI"/>
              </a:rPr>
              <a:t>• OFAC vs. Phishing Longevity: </a:t>
            </a:r>
            <a:r>
              <a:rPr b="0" sz="1050">
                <a:solidFill>
                  <a:srgbClr val="21140E"/>
                </a:solidFill>
                <a:latin typeface="Segoe UI"/>
              </a:rPr>
              <a:t>State-sanctioned OFAC entities maintain higher longevity (26.5%) than short-lived phishing wallets (13.9%, z = 3.17).</a:t>
            </a:r>
          </a:p>
          <a:p>
            <a:pPr>
              <a:spcAft>
                <a:spcPts val="800"/>
              </a:spcAft>
            </a:pPr>
            <a:r>
              <a:rPr b="1" sz="1050">
                <a:solidFill>
                  <a:srgbClr val="DA4100"/>
                </a:solidFill>
                <a:latin typeface="Segoe UI"/>
              </a:rPr>
              <a:t>• The 'Burner Wallet' Reality: </a:t>
            </a:r>
            <a:r>
              <a:rPr b="0" sz="1050">
                <a:solidFill>
                  <a:srgbClr val="21140E"/>
                </a:solidFill>
                <a:latin typeface="Segoe UI"/>
              </a:rPr>
              <a:t>Perpetrators abandon intermediate deposit addresses immediately following campaigns. Relying on static blacklists offers false security.</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400" b="1">
                <a:solidFill>
                  <a:srgbClr val="FF5900"/>
                </a:solidFill>
              </a:defRPr>
            </a:pPr>
            <a:r>
              <a:t>Actionable Recommendations for Stakeholders</a:t>
            </a:r>
          </a:p>
          <a:p>
            <a:pPr>
              <a:spcAft>
                <a:spcPts val="800"/>
              </a:spcAft>
            </a:pPr>
            <a:r>
              <a:rPr b="1" sz="1050">
                <a:solidFill>
                  <a:srgbClr val="FF5900"/>
                </a:solidFill>
                <a:latin typeface="Segoe UI"/>
              </a:rPr>
              <a:t>1. For Regulators &amp; FATF: </a:t>
            </a:r>
            <a:r>
              <a:rPr b="0" sz="1050">
                <a:solidFill>
                  <a:srgbClr val="F5EDE4"/>
                </a:solidFill>
                <a:latin typeface="Segoe UI"/>
              </a:rPr>
              <a:t>Abandon mandates for automated transaction blocking under 'Travel Rule' frameworks. Mandate that evaluations report base rates, expected review workloads, and deploy AI strictly as triage shortlists.</a:t>
            </a:r>
          </a:p>
          <a:p>
            <a:pPr>
              <a:spcAft>
                <a:spcPts val="800"/>
              </a:spcAft>
            </a:pPr>
            <a:r>
              <a:rPr b="1" sz="1050">
                <a:solidFill>
                  <a:srgbClr val="FF5900"/>
                </a:solidFill>
                <a:latin typeface="Segoe UI"/>
              </a:rPr>
              <a:t>2. For Crypto Exchanges &amp; DEXs: </a:t>
            </a:r>
            <a:r>
              <a:rPr b="0" sz="1050">
                <a:solidFill>
                  <a:srgbClr val="F5EDE4"/>
                </a:solidFill>
                <a:latin typeface="Segoe UI"/>
              </a:rPr>
              <a:t>Implement behavioral gating funnels and the Wash-Discount ($WD_i$) metric to de-anonymize synthetic volume rather than relying on stale blacklists.</a:t>
            </a:r>
          </a:p>
          <a:p>
            <a:pPr>
              <a:spcAft>
                <a:spcPts val="800"/>
              </a:spcAft>
            </a:pPr>
            <a:r>
              <a:rPr b="1" sz="1050">
                <a:solidFill>
                  <a:srgbClr val="FF5900"/>
                </a:solidFill>
                <a:latin typeface="Segoe UI"/>
              </a:rPr>
              <a:t>3. For Blockchain Analytics Vendors: </a:t>
            </a:r>
            <a:r>
              <a:rPr b="0" sz="1050">
                <a:solidFill>
                  <a:srgbClr val="F5EDE4"/>
                </a:solidFill>
                <a:latin typeface="Segoe UI"/>
              </a:rPr>
              <a:t>Stop marketing unverified GNN blackbox complexity. Demonstrate performance against simple baselines under strictly point-in-time features.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LECTURE CONCLUSION</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Key Takeaways &amp; Classroom Discussion Questions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Cryptocurrency Market Structure  |  Slide 24/24</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Conceptual Synthesis of the Course</a:t>
            </a:r>
          </a:p>
          <a:p>
            <a:pPr>
              <a:spcAft>
                <a:spcPts val="750"/>
              </a:spcAft>
            </a:pPr>
            <a:r>
              <a:rPr b="1" sz="1050">
                <a:solidFill>
                  <a:srgbClr val="DA4100"/>
                </a:solidFill>
                <a:latin typeface="Segoe UI"/>
              </a:rPr>
              <a:t>• Protocol &amp; Consensus Core: </a:t>
            </a:r>
            <a:r>
              <a:rPr b="0" sz="1050">
                <a:solidFill>
                  <a:srgbClr val="21140E"/>
                </a:solidFill>
                <a:latin typeface="Segoe UI"/>
              </a:rPr>
              <a:t>The blockchain is governed by decentralized P2P gossip and Nakamoto consensus (longest chain rule); full nodes retain ultimate rule-enforcement sovereignty over miners.</a:t>
            </a:r>
          </a:p>
          <a:p>
            <a:pPr>
              <a:spcAft>
                <a:spcPts val="750"/>
              </a:spcAft>
            </a:pPr>
            <a:r>
              <a:rPr b="1" sz="1050">
                <a:solidFill>
                  <a:srgbClr val="DA4100"/>
                </a:solidFill>
                <a:latin typeface="Segoe UI"/>
              </a:rPr>
              <a:t>• Microstructure Over Gross Volume: </a:t>
            </a:r>
            <a:r>
              <a:rPr b="0" sz="1050">
                <a:solidFill>
                  <a:srgbClr val="21140E"/>
                </a:solidFill>
                <a:latin typeface="Segoe UI"/>
              </a:rPr>
              <a:t>Real economic liquidity resides in order book depth (DOM), tight bid-ask spreads, and low Amihud price impact, not exchange-reported volume.</a:t>
            </a:r>
          </a:p>
          <a:p>
            <a:pPr>
              <a:spcAft>
                <a:spcPts val="750"/>
              </a:spcAft>
            </a:pPr>
            <a:r>
              <a:rPr b="1" sz="1050">
                <a:solidFill>
                  <a:srgbClr val="DA4100"/>
                </a:solidFill>
                <a:latin typeface="Segoe UI"/>
              </a:rPr>
              <a:t>• Hegemony of Derivatives: </a:t>
            </a:r>
            <a:r>
              <a:rPr b="0" sz="1050">
                <a:solidFill>
                  <a:srgbClr val="21140E"/>
                </a:solidFill>
                <a:latin typeface="Segoe UI"/>
              </a:rPr>
              <a:t>2 out of 3 dollars traded operate in perpetual swaps and futures, making derivatives the primary venue for price discovery.</a:t>
            </a:r>
          </a:p>
          <a:p>
            <a:pPr>
              <a:spcAft>
                <a:spcPts val="750"/>
              </a:spcAft>
            </a:pPr>
            <a:r>
              <a:rPr b="1" sz="1050">
                <a:solidFill>
                  <a:srgbClr val="DA4100"/>
                </a:solidFill>
                <a:latin typeface="Segoe UI"/>
              </a:rPr>
              <a:t>• Stablecoins as the Systemic Hub: </a:t>
            </a:r>
            <a:r>
              <a:rPr b="0" sz="1050">
                <a:solidFill>
                  <a:srgbClr val="21140E"/>
                </a:solidFill>
                <a:latin typeface="Segoe UI"/>
              </a:rPr>
              <a:t>USDT and USDC represent the true quote currency of the crypto universe and have consequently absorbed the majority of illicit money laundering flows.</a:t>
            </a:r>
          </a:p>
          <a:p>
            <a:pPr>
              <a:spcAft>
                <a:spcPts val="750"/>
              </a:spcAft>
            </a:pPr>
            <a:r>
              <a:rPr b="1" sz="1050">
                <a:solidFill>
                  <a:srgbClr val="DA4100"/>
                </a:solidFill>
                <a:latin typeface="Segoe UI"/>
              </a:rPr>
              <a:t>• Jalal &amp; Westland Research Takeaway: </a:t>
            </a:r>
            <a:r>
              <a:rPr b="0" sz="1050">
                <a:solidFill>
                  <a:srgbClr val="21140E"/>
                </a:solidFill>
                <a:latin typeface="Segoe UI"/>
              </a:rPr>
              <a:t>Automated algorithmic governance ('kill-switches') is mathematically precluded by the base-rate fallacy (40k–116k false reviews per catch). AI must serve as a **human triage accelerator**, not an autonomous control.</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Questions for Classroom Debate</a:t>
            </a:r>
          </a:p>
          <a:p>
            <a:pPr>
              <a:spcAft>
                <a:spcPts val="900"/>
              </a:spcAft>
            </a:pPr>
            <a:r>
              <a:rPr b="1" sz="1050">
                <a:solidFill>
                  <a:srgbClr val="FF5900"/>
                </a:solidFill>
                <a:latin typeface="Segoe UI"/>
              </a:rPr>
              <a:t>1. Industrial Mining Viability: </a:t>
            </a:r>
            <a:r>
              <a:rPr b="0" sz="1050">
                <a:solidFill>
                  <a:srgbClr val="F5EDE4"/>
                </a:solidFill>
                <a:latin typeface="Segoe UI"/>
              </a:rPr>
              <a:t>Given post-halving subsidy cuts and soaring network difficulty, will mining consolidate exclusively into state-backed or utility-owned mega-datacenters, threatening Bitcoin's censorship resistance?</a:t>
            </a:r>
          </a:p>
          <a:p>
            <a:pPr>
              <a:spcAft>
                <a:spcPts val="900"/>
              </a:spcAft>
            </a:pPr>
            <a:r>
              <a:rPr b="1" sz="1050">
                <a:solidFill>
                  <a:srgbClr val="FF5900"/>
                </a:solidFill>
                <a:latin typeface="Segoe UI"/>
              </a:rPr>
              <a:t>2. The Altcoin Creation Dilemma: </a:t>
            </a:r>
            <a:r>
              <a:rPr b="0" sz="1050">
                <a:solidFill>
                  <a:srgbClr val="F5EDE4"/>
                </a:solidFill>
                <a:latin typeface="Segoe UI"/>
              </a:rPr>
              <a:t>If 99% of new cryptocurrencies fail economically, should token creation be subject to securities registration, or does permissionless issuance drive essential financial innovation?</a:t>
            </a:r>
          </a:p>
          <a:p>
            <a:pPr>
              <a:spcAft>
                <a:spcPts val="900"/>
              </a:spcAft>
            </a:pPr>
            <a:r>
              <a:rPr b="1" sz="1050">
                <a:solidFill>
                  <a:srgbClr val="FF5900"/>
                </a:solidFill>
                <a:latin typeface="Segoe UI"/>
              </a:rPr>
              <a:t>3. Regulation vs. Mathematical Reality: </a:t>
            </a:r>
            <a:r>
              <a:rPr b="0" sz="1050">
                <a:solidFill>
                  <a:srgbClr val="F5EDE4"/>
                </a:solidFill>
                <a:latin typeface="Segoe UI"/>
              </a:rPr>
              <a:t>How should regulatory bodies (FATF, FinCEN) restructure anti-money laundering compliance mandates so virtual asset providers are not forced into performative 'security theater'?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5900"/>
      </a:hlink>
      <a:folHlink>
        <a:srgbClr val="FFA04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