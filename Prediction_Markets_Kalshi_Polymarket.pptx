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business.uic.edu/profiles/westland-james-christoph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658368"/>
            <a:ext cx="9997135" cy="5596128"/>
          </a:xfrm>
          <a:prstGeom prst="roundRect">
            <a:avLst>
              <a:gd name="adj" fmla="val 4000"/>
            </a:avLst>
          </a:prstGeom>
          <a:solidFill>
            <a:srgbClr val="3D2314"/>
          </a:solidFill>
          <a:ln w="317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95360" y="896112"/>
            <a:ext cx="2103120" cy="640080"/>
          </a:xfrm>
          <a:prstGeom prst="roundRect">
            <a:avLst>
              <a:gd name="adj" fmla="val 25000"/>
            </a:avLst>
          </a:prstGeom>
          <a:solidFill>
            <a:srgbClr val="FFFFFF"/>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anahuac.png"/>
          <p:cNvPicPr>
            <a:picLocks noChangeAspect="1"/>
          </p:cNvPicPr>
          <p:nvPr/>
        </p:nvPicPr>
        <p:blipFill>
          <a:blip r:embed="rId2"/>
          <a:stretch>
            <a:fillRect/>
          </a:stretch>
        </p:blipFill>
        <p:spPr>
          <a:xfrm>
            <a:off x="8686800" y="960120"/>
            <a:ext cx="1920240" cy="545366"/>
          </a:xfrm>
          <a:prstGeom prst="rect">
            <a:avLst/>
          </a:prstGeom>
        </p:spPr>
      </p:pic>
      <p:sp>
        <p:nvSpPr>
          <p:cNvPr id="7" name="Rounded Rectangle 6"/>
          <p:cNvSpPr/>
          <p:nvPr/>
        </p:nvSpPr>
        <p:spPr>
          <a:xfrm>
            <a:off x="1463040" y="932688"/>
            <a:ext cx="4114800" cy="347472"/>
          </a:xfrm>
          <a:prstGeom prst="round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defRPr>
            </a:pPr>
            <a:r>
              <a:t>FINANCE &amp; FINANCIAL TECHNOLOGY (FINTECH)</a:t>
            </a:r>
          </a:p>
        </p:txBody>
      </p:sp>
      <p:sp>
        <p:nvSpPr>
          <p:cNvPr id="8" name="TextBox 7"/>
          <p:cNvSpPr txBox="1"/>
          <p:nvPr/>
        </p:nvSpPr>
        <p:spPr>
          <a:xfrm>
            <a:off x="1463040" y="1389888"/>
            <a:ext cx="9235440" cy="1783080"/>
          </a:xfrm>
          <a:prstGeom prst="rect">
            <a:avLst/>
          </a:prstGeom>
          <a:noFill/>
        </p:spPr>
        <p:txBody>
          <a:bodyPr wrap="square">
            <a:spAutoFit/>
          </a:bodyPr>
          <a:lstStyle/>
          <a:p>
            <a:pPr>
              <a:spcAft>
                <a:spcPts val="400"/>
              </a:spcAft>
              <a:defRPr sz="3200" b="1">
                <a:solidFill>
                  <a:srgbClr val="FFFFFF"/>
                </a:solidFill>
                <a:latin typeface="Segoe UI"/>
              </a:defRPr>
            </a:pPr>
            <a:r>
              <a:t>Prediction Markets &amp; Information Finance</a:t>
            </a:r>
          </a:p>
          <a:p>
            <a:pPr>
              <a:spcAft>
                <a:spcPts val="800"/>
              </a:spcAft>
              <a:defRPr sz="1650">
                <a:solidFill>
                  <a:srgbClr val="FF5900"/>
                </a:solidFill>
                <a:latin typeface="Segoe UI"/>
              </a:defRPr>
            </a:pPr>
            <a:r>
              <a:t>A Comparative Analysis of Kalshi &amp; Polymarket: Architecture, Regulation, and Oracles</a:t>
            </a:r>
          </a:p>
          <a:p>
            <a:pPr>
              <a:defRPr sz="1100">
                <a:solidFill>
                  <a:srgbClr val="F5EDE4"/>
                </a:solidFill>
                <a:latin typeface="Segoe UI"/>
              </a:defRPr>
            </a:pPr>
            <a:r>
              <a:t>An exhaustive examination of decentralized and centralized event contract exchanges: Hayekian information aggregation, binary option mathematics, order book microstructure, the legal battle in Kalshi v. CFTC, Polymarket's Web3 USDC liquidity, UMA optimistic oracles, manipulation resilience, and the macroeconomic frontier of decision markets.</a:t>
            </a:r>
          </a:p>
        </p:txBody>
      </p:sp>
      <p:sp>
        <p:nvSpPr>
          <p:cNvPr id="9" name="Rounded Rectangle 8"/>
          <p:cNvSpPr/>
          <p:nvPr/>
        </p:nvSpPr>
        <p:spPr>
          <a:xfrm>
            <a:off x="1417320" y="3246120"/>
            <a:ext cx="9357055" cy="2788920"/>
          </a:xfrm>
          <a:prstGeom prst="roundRect">
            <a:avLst>
              <a:gd name="adj" fmla="val 4000"/>
            </a:avLst>
          </a:prstGeom>
          <a:solidFill>
            <a:srgbClr val="2B180D"/>
          </a:solidFill>
          <a:ln w="1524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3364992"/>
            <a:ext cx="5577840" cy="2542032"/>
          </a:xfrm>
          <a:prstGeom prst="rect">
            <a:avLst/>
          </a:prstGeom>
          <a:noFill/>
        </p:spPr>
        <p:txBody>
          <a:bodyPr wrap="square" lIns="0" tIns="0" rIns="0" bIns="0">
            <a:spAutoFit/>
          </a:bodyPr>
          <a:lstStyle/>
          <a:p>
            <a:pPr>
              <a:spcAft>
                <a:spcPts val="300"/>
              </a:spcAft>
            </a:pPr>
            <a:r>
              <a:rPr sz="1500" b="1">
                <a:solidFill>
                  <a:srgbClr val="FFFFFF"/>
                </a:solidFill>
                <a:latin typeface="Segoe UI"/>
              </a:rPr>
              <a:t>J. Christopher Westland</a:t>
            </a:r>
          </a:p>
          <a:p>
            <a:pPr>
              <a:spcAft>
                <a:spcPts val="200"/>
              </a:spcAft>
            </a:pPr>
            <a:r>
              <a:rPr sz="1100" b="1">
                <a:solidFill>
                  <a:srgbClr val="FF5900"/>
                </a:solidFill>
                <a:latin typeface="Segoe UI"/>
              </a:rPr>
              <a:t>Fulbright-García Robles U.S. Scholar (Science and Technology)</a:t>
            </a:r>
          </a:p>
          <a:p>
            <a:pPr>
              <a:spcAft>
                <a:spcPts val="200"/>
              </a:spcAft>
            </a:pPr>
            <a:r>
              <a:rPr sz="1050">
                <a:solidFill>
                  <a:srgbClr val="F5EDE4"/>
                </a:solidFill>
                <a:latin typeface="Segoe UI"/>
              </a:rPr>
              <a:t>hosted by Universidad Anáhuac Mayab | Mérida, México</a:t>
            </a:r>
          </a:p>
          <a:p>
            <a:pPr>
              <a:spcAft>
                <a:spcPts val="200"/>
              </a:spcAft>
            </a:pPr>
            <a:r>
              <a:rPr sz="1050">
                <a:solidFill>
                  <a:srgbClr val="F5EDE4"/>
                </a:solidFill>
                <a:latin typeface="Segoe UI"/>
              </a:rPr>
              <a:t>Professor, Information &amp; Decision Sciences | University of Illinois Chicago</a:t>
            </a:r>
          </a:p>
          <a:p>
            <a:pPr>
              <a:spcAft>
                <a:spcPts val="300"/>
              </a:spcAft>
            </a:pPr>
            <a:r>
              <a:rPr sz="1000">
                <a:solidFill>
                  <a:srgbClr val="DCD2C8"/>
                </a:solidFill>
                <a:latin typeface="Segoe UI"/>
              </a:rPr>
              <a:t>Editor-in-Chief: Electronic Commerce Research (Springer)</a:t>
            </a:r>
          </a:p>
          <a:p>
            <a:r>
              <a:rPr sz="950">
                <a:solidFill>
                  <a:srgbClr val="C8BEB4"/>
                </a:solidFill>
                <a:latin typeface="Segoe UI"/>
              </a:rPr>
              <a:t>Faculty Profile: </a:t>
            </a:r>
            <a:r>
              <a:rPr sz="950" u="sng">
                <a:solidFill>
                  <a:srgbClr val="FF5900"/>
                </a:solidFill>
                <a:latin typeface="Segoe UI"/>
                <a:hlinkClick r:id="rId3"/>
              </a:rPr>
              <a:t>business.uic.edu/profiles/westland-james-christopher</a:t>
            </a:r>
          </a:p>
        </p:txBody>
      </p:sp>
      <p:sp>
        <p:nvSpPr>
          <p:cNvPr id="11" name="Rectangle 10"/>
          <p:cNvSpPr/>
          <p:nvPr/>
        </p:nvSpPr>
        <p:spPr>
          <a:xfrm>
            <a:off x="7315200" y="3429000"/>
            <a:ext cx="18288" cy="2423160"/>
          </a:xfrm>
          <a:prstGeom prst="rect">
            <a:avLst/>
          </a:prstGeom>
          <a:solidFill>
            <a:srgbClr val="63381B"/>
          </a:solidFill>
          <a:ln>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364992"/>
            <a:ext cx="3108960" cy="2542032"/>
          </a:xfrm>
          <a:prstGeom prst="rect">
            <a:avLst/>
          </a:prstGeom>
          <a:noFill/>
        </p:spPr>
        <p:txBody>
          <a:bodyPr wrap="square" lIns="0" tIns="0" rIns="0" bIns="0">
            <a:spAutoFit/>
          </a:bodyPr>
          <a:lstStyle/>
          <a:p>
            <a:pPr>
              <a:spcAft>
                <a:spcPts val="300"/>
              </a:spcAft>
            </a:pPr>
            <a:r>
              <a:rPr sz="1000" b="1">
                <a:solidFill>
                  <a:srgbClr val="FF5900"/>
                </a:solidFill>
                <a:latin typeface="Segoe UI"/>
              </a:rPr>
              <a:t>MASTERCLASS LECTURE</a:t>
            </a:r>
          </a:p>
          <a:p>
            <a:pPr>
              <a:spcAft>
                <a:spcPts val="100"/>
              </a:spcAft>
            </a:pPr>
            <a:r>
              <a:rPr sz="950">
                <a:solidFill>
                  <a:srgbClr val="F5EDE4"/>
                </a:solidFill>
                <a:latin typeface="Segoe UI"/>
              </a:rPr>
              <a:t>Focus &amp; Thematic Scope:</a:t>
            </a:r>
          </a:p>
          <a:p>
            <a:pPr>
              <a:spcAft>
                <a:spcPts val="300"/>
              </a:spcAft>
            </a:pPr>
            <a:r>
              <a:rPr sz="1050" b="1">
                <a:solidFill>
                  <a:srgbClr val="FFFFFF"/>
                </a:solidFill>
                <a:latin typeface="Segoe UI"/>
              </a:rPr>
              <a:t>Information Economics, Microstructure &amp; Algorithmic Governance</a:t>
            </a:r>
          </a:p>
          <a:p>
            <a:pPr>
              <a:spcAft>
                <a:spcPts val="800"/>
              </a:spcAft>
            </a:pPr>
            <a:r>
              <a:rPr sz="900" i="1">
                <a:solidFill>
                  <a:srgbClr val="C3B4A8"/>
                </a:solidFill>
                <a:latin typeface="Segoe UI"/>
              </a:rPr>
              <a:t>Comparative Institutional Analysis: Kalshi (CFTC-Regulated) vs. Polymarket (Web3 / UMA Oracles)</a:t>
            </a:r>
          </a:p>
          <a:p>
            <a:r>
              <a:rPr sz="900" b="1">
                <a:solidFill>
                  <a:srgbClr val="FFFFFF"/>
                </a:solidFill>
                <a:latin typeface="Segoe UI"/>
              </a:rPr>
              <a:t>© J. Christopher Westland.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LECTURE OVERVIEW</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Course Agenda &amp; Thematic Roadmap</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02/22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400"/>
              </a:spcAft>
              <a:defRPr sz="1500" b="1">
                <a:solidFill>
                  <a:srgbClr val="DA4100"/>
                </a:solidFill>
              </a:defRPr>
            </a:pPr>
            <a:r>
              <a:t>1. Theory &amp; Mechanics</a:t>
            </a:r>
          </a:p>
          <a:p>
            <a:pPr>
              <a:spcAft>
                <a:spcPts val="800"/>
              </a:spcAft>
            </a:pPr>
            <a:r>
              <a:rPr b="1" sz="1100">
                <a:solidFill>
                  <a:srgbClr val="DA4100"/>
                </a:solidFill>
                <a:latin typeface="Segoe UI"/>
              </a:rPr>
              <a:t>• Hayekian Information: </a:t>
            </a:r>
            <a:r>
              <a:rPr b="0" sz="1100">
                <a:solidFill>
                  <a:srgbClr val="21140E"/>
                </a:solidFill>
                <a:latin typeface="Segoe UI"/>
              </a:rPr>
              <a:t>Price systems as dispersed knowledge aggregators.</a:t>
            </a:r>
          </a:p>
          <a:p>
            <a:pPr>
              <a:spcAft>
                <a:spcPts val="800"/>
              </a:spcAft>
            </a:pPr>
            <a:r>
              <a:rPr b="1" sz="1100">
                <a:solidFill>
                  <a:srgbClr val="DA4100"/>
                </a:solidFill>
                <a:latin typeface="Segoe UI"/>
              </a:rPr>
              <a:t>• Binary Event Contracts: </a:t>
            </a:r>
            <a:r>
              <a:rPr b="0" sz="1100">
                <a:solidFill>
                  <a:srgbClr val="21140E"/>
                </a:solidFill>
                <a:latin typeface="Segoe UI"/>
              </a:rPr>
              <a:t>Payoff structure ($1 or $0) and risk-neutral odds.</a:t>
            </a:r>
          </a:p>
          <a:p>
            <a:pPr>
              <a:spcAft>
                <a:spcPts val="800"/>
              </a:spcAft>
            </a:pPr>
            <a:r>
              <a:rPr b="1" sz="1100">
                <a:solidFill>
                  <a:srgbClr val="DA4100"/>
                </a:solidFill>
                <a:latin typeface="Segoe UI"/>
              </a:rPr>
              <a:t>• Order Book Microstructure: </a:t>
            </a:r>
            <a:r>
              <a:rPr b="0" sz="1100">
                <a:solidFill>
                  <a:srgbClr val="21140E"/>
                </a:solidFill>
                <a:latin typeface="Segoe UI"/>
              </a:rPr>
              <a:t>Complementary pricing ($Bid_{Yes} + Ask_{No} = $1.00).</a:t>
            </a:r>
          </a:p>
          <a:p>
            <a:pPr>
              <a:spcAft>
                <a:spcPts val="800"/>
              </a:spcAft>
            </a:pPr>
            <a:r>
              <a:rPr b="1" sz="1100">
                <a:solidFill>
                  <a:srgbClr val="DA4100"/>
                </a:solidFill>
                <a:latin typeface="Segoe UI"/>
              </a:rPr>
              <a:t>• Market Maker Arbitrage: </a:t>
            </a:r>
            <a:r>
              <a:rPr b="0" sz="1100">
                <a:solidFill>
                  <a:srgbClr val="21140E"/>
                </a:solidFill>
                <a:latin typeface="Segoe UI"/>
              </a:rPr>
              <a:t>Minting and burning binary pairs for cash.</a:t>
            </a:r>
          </a:p>
          <a:p>
            <a:pPr>
              <a:spcAft>
                <a:spcPts val="800"/>
              </a:spcAft>
            </a:pPr>
            <a:r>
              <a:rPr b="1" sz="1100">
                <a:solidFill>
                  <a:srgbClr val="DA4100"/>
                </a:solidFill>
                <a:latin typeface="Segoe UI"/>
              </a:rPr>
              <a:t>• The Resolution Dilemma: </a:t>
            </a:r>
            <a:r>
              <a:rPr b="0" sz="1100">
                <a:solidFill>
                  <a:srgbClr val="21140E"/>
                </a:solidFill>
                <a:latin typeface="Segoe UI"/>
              </a:rPr>
              <a:t>Deterministic contracts vs. subjective reality.</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400"/>
              </a:spcAft>
              <a:defRPr sz="1500" b="1">
                <a:solidFill>
                  <a:srgbClr val="FF5900"/>
                </a:solidFill>
              </a:defRPr>
            </a:pPr>
            <a:r>
              <a:t>2. Kalshi vs. Polymarket</a:t>
            </a:r>
          </a:p>
          <a:p>
            <a:pPr>
              <a:spcAft>
                <a:spcPts val="800"/>
              </a:spcAft>
            </a:pPr>
            <a:r>
              <a:rPr b="1" sz="1100">
                <a:solidFill>
                  <a:srgbClr val="FF5900"/>
                </a:solidFill>
                <a:latin typeface="Segoe UI"/>
              </a:rPr>
              <a:t>• Kalshi Architecture: </a:t>
            </a:r>
            <a:r>
              <a:rPr b="0" sz="1100">
                <a:solidFill>
                  <a:srgbClr val="F5EDE4"/>
                </a:solidFill>
                <a:latin typeface="Segoe UI"/>
              </a:rPr>
              <a:t>CFTC Designated Contract Market (DCM) &amp; USD rails.</a:t>
            </a:r>
          </a:p>
          <a:p>
            <a:pPr>
              <a:spcAft>
                <a:spcPts val="800"/>
              </a:spcAft>
            </a:pPr>
            <a:r>
              <a:rPr b="1" sz="1100">
                <a:solidFill>
                  <a:srgbClr val="FF5900"/>
                </a:solidFill>
                <a:latin typeface="Segoe UI"/>
              </a:rPr>
              <a:t>• Kalshi v. CFTC Lawsuit: </a:t>
            </a:r>
            <a:r>
              <a:rPr b="0" sz="1100">
                <a:solidFill>
                  <a:srgbClr val="F5EDE4"/>
                </a:solidFill>
                <a:latin typeface="Segoe UI"/>
              </a:rPr>
              <a:t>The legal landmark legalizing US election trading.</a:t>
            </a:r>
          </a:p>
          <a:p>
            <a:pPr>
              <a:spcAft>
                <a:spcPts val="800"/>
              </a:spcAft>
            </a:pPr>
            <a:r>
              <a:rPr b="1" sz="1100">
                <a:solidFill>
                  <a:srgbClr val="FF5900"/>
                </a:solidFill>
                <a:latin typeface="Segoe UI"/>
              </a:rPr>
              <a:t>• Polymarket Architecture: </a:t>
            </a:r>
            <a:r>
              <a:rPr b="0" sz="1100">
                <a:solidFill>
                  <a:srgbClr val="F5EDE4"/>
                </a:solidFill>
                <a:latin typeface="Segoe UI"/>
              </a:rPr>
              <a:t>Polygon PoS L2, USDC stablecoin, &amp; Web3 non-custody.</a:t>
            </a:r>
          </a:p>
          <a:p>
            <a:pPr>
              <a:spcAft>
                <a:spcPts val="800"/>
              </a:spcAft>
            </a:pPr>
            <a:r>
              <a:rPr b="1" sz="1100">
                <a:solidFill>
                  <a:srgbClr val="FF5900"/>
                </a:solidFill>
                <a:latin typeface="Segoe UI"/>
              </a:rPr>
              <a:t>• Geopolitics &amp; Geoblocking: </a:t>
            </a:r>
            <a:r>
              <a:rPr b="0" sz="1100">
                <a:solidFill>
                  <a:srgbClr val="F5EDE4"/>
                </a:solidFill>
                <a:latin typeface="Segoe UI"/>
              </a:rPr>
              <a:t>Offshore liquidity vs. CFTC regulatory sanctions.</a:t>
            </a:r>
          </a:p>
          <a:p>
            <a:pPr>
              <a:spcAft>
                <a:spcPts val="800"/>
              </a:spcAft>
            </a:pPr>
            <a:r>
              <a:rPr b="1" sz="1100">
                <a:solidFill>
                  <a:srgbClr val="FF5900"/>
                </a:solidFill>
                <a:latin typeface="Segoe UI"/>
              </a:rPr>
              <a:t>• 2024 Election Supercycle: </a:t>
            </a:r>
            <a:r>
              <a:rPr b="0" sz="1100">
                <a:solidFill>
                  <a:srgbClr val="F5EDE4"/>
                </a:solidFill>
                <a:latin typeface="Segoe UI"/>
              </a:rPr>
              <a:t>Parabolic volume surge beyond $4.9B+.</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400"/>
              </a:spcAft>
              <a:defRPr sz="1500" b="1">
                <a:solidFill>
                  <a:srgbClr val="3D2314"/>
                </a:solidFill>
              </a:defRPr>
            </a:pPr>
            <a:r>
              <a:t>3. Accuracy &amp; Frontier</a:t>
            </a:r>
          </a:p>
          <a:p>
            <a:pPr>
              <a:spcAft>
                <a:spcPts val="800"/>
              </a:spcAft>
            </a:pPr>
            <a:r>
              <a:rPr b="1" sz="1100">
                <a:solidFill>
                  <a:srgbClr val="3D2314"/>
                </a:solidFill>
                <a:latin typeface="Segoe UI"/>
              </a:rPr>
              <a:t>• Centralized vs UMA Oracles: </a:t>
            </a:r>
            <a:r>
              <a:rPr b="0" sz="1100">
                <a:solidFill>
                  <a:srgbClr val="21140E"/>
                </a:solidFill>
                <a:latin typeface="Segoe UI"/>
              </a:rPr>
              <a:t>Government data vs optimistic game-theoretic voting.</a:t>
            </a:r>
          </a:p>
          <a:p>
            <a:pPr>
              <a:spcAft>
                <a:spcPts val="800"/>
              </a:spcAft>
            </a:pPr>
            <a:r>
              <a:rPr b="1" sz="1100">
                <a:solidFill>
                  <a:srgbClr val="3D2314"/>
                </a:solidFill>
                <a:latin typeface="Segoe UI"/>
              </a:rPr>
              <a:t>• Empirical Calibration: </a:t>
            </a:r>
            <a:r>
              <a:rPr b="0" sz="1100">
                <a:solidFill>
                  <a:srgbClr val="21140E"/>
                </a:solidFill>
                <a:latin typeface="Segoe UI"/>
              </a:rPr>
              <a:t>Prediction markets vs. opinion polls and pundits.</a:t>
            </a:r>
          </a:p>
          <a:p>
            <a:pPr>
              <a:spcAft>
                <a:spcPts val="800"/>
              </a:spcAft>
            </a:pPr>
            <a:r>
              <a:rPr b="1" sz="1100">
                <a:solidFill>
                  <a:srgbClr val="3D2314"/>
                </a:solidFill>
                <a:latin typeface="Segoe UI"/>
              </a:rPr>
              <a:t>• Manipulation Resilience: </a:t>
            </a:r>
            <a:r>
              <a:rPr b="0" sz="1100">
                <a:solidFill>
                  <a:srgbClr val="21140E"/>
                </a:solidFill>
                <a:latin typeface="Segoe UI"/>
              </a:rPr>
              <a:t>Hanson's 'manipulation-as-subsidy' theorem &amp; whales.</a:t>
            </a:r>
          </a:p>
          <a:p>
            <a:pPr>
              <a:spcAft>
                <a:spcPts val="800"/>
              </a:spcAft>
            </a:pPr>
            <a:r>
              <a:rPr b="1" sz="1100">
                <a:solidFill>
                  <a:srgbClr val="3D2314"/>
                </a:solidFill>
                <a:latin typeface="Segoe UI"/>
              </a:rPr>
              <a:t>• Macroeconomic Hedging: </a:t>
            </a:r>
            <a:r>
              <a:rPr b="0" sz="1100">
                <a:solidFill>
                  <a:srgbClr val="21140E"/>
                </a:solidFill>
                <a:latin typeface="Segoe UI"/>
              </a:rPr>
              <a:t>Hedging Fed rates, inflation (CPI), and geopolitics.</a:t>
            </a:r>
          </a:p>
          <a:p>
            <a:pPr>
              <a:spcAft>
                <a:spcPts val="800"/>
              </a:spcAft>
            </a:pPr>
            <a:r>
              <a:rPr b="1" sz="1100">
                <a:solidFill>
                  <a:srgbClr val="3D2314"/>
                </a:solidFill>
                <a:latin typeface="Segoe UI"/>
              </a:rPr>
              <a:t>• The Future (Futarchy): </a:t>
            </a:r>
            <a:r>
              <a:rPr b="0" sz="1100">
                <a:solidFill>
                  <a:srgbClr val="21140E"/>
                </a:solidFill>
                <a:latin typeface="Segoe UI"/>
              </a:rPr>
              <a:t>AI automated agents and governance by prediction.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INFORMATION ECONOMICS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Theoretical Foundations: Hayek, Information Aggregation &amp; The Crowd</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03/22</a:t>
            </a:r>
          </a:p>
        </p:txBody>
      </p:sp>
      <p:sp>
        <p:nvSpPr>
          <p:cNvPr id="9" name="Rounded Rectangle 8"/>
          <p:cNvSpPr/>
          <p:nvPr/>
        </p:nvSpPr>
        <p:spPr>
          <a:xfrm>
            <a:off x="731520" y="1554480"/>
            <a:ext cx="539496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737360"/>
            <a:ext cx="4937760" cy="4114800"/>
          </a:xfrm>
          <a:prstGeom prst="rect">
            <a:avLst/>
          </a:prstGeom>
          <a:noFill/>
        </p:spPr>
        <p:txBody>
          <a:bodyPr wrap="square">
            <a:spAutoFit/>
          </a:bodyPr>
          <a:lstStyle/>
          <a:p>
            <a:pPr>
              <a:spcAft>
                <a:spcPts val="1200"/>
              </a:spcAft>
              <a:defRPr sz="1600" b="1">
                <a:solidFill>
                  <a:srgbClr val="DA4100"/>
                </a:solidFill>
              </a:defRPr>
            </a:pPr>
            <a:r>
              <a:t>Hayek &amp; The Price System as an Aggregator</a:t>
            </a:r>
          </a:p>
          <a:p>
            <a:pPr>
              <a:spcAft>
                <a:spcPts val="1000"/>
              </a:spcAft>
            </a:pPr>
            <a:r>
              <a:rPr b="1" sz="1150">
                <a:solidFill>
                  <a:srgbClr val="DA4100"/>
                </a:solidFill>
                <a:latin typeface="Segoe UI"/>
              </a:rPr>
              <a:t>• Friedrich Hayek (1945): </a:t>
            </a:r>
            <a:r>
              <a:rPr b="0" sz="1150">
                <a:solidFill>
                  <a:srgbClr val="21140E"/>
                </a:solidFill>
                <a:latin typeface="Segoe UI"/>
              </a:rPr>
              <a:t>'The Use of Knowledge in Society'. Central planners cannot access dispersed, tacit, and localized knowledge. Market prices function as a telecommunications system aggregating decentralized signals.</a:t>
            </a:r>
          </a:p>
          <a:p>
            <a:pPr>
              <a:spcAft>
                <a:spcPts val="1000"/>
              </a:spcAft>
            </a:pPr>
            <a:r>
              <a:rPr b="1" sz="1150">
                <a:solidFill>
                  <a:srgbClr val="DA4100"/>
                </a:solidFill>
                <a:latin typeface="Segoe UI"/>
              </a:rPr>
              <a:t>• Surowiecki's 'Wisdom of Crowds': </a:t>
            </a:r>
            <a:r>
              <a:rPr b="0" sz="1150">
                <a:solidFill>
                  <a:srgbClr val="21140E"/>
                </a:solidFill>
                <a:latin typeface="Segoe UI"/>
              </a:rPr>
              <a:t>Aggregating diverse, independent, and incentivized probability assessments consistently outperforms individual experts, pollsters, and bureaucratic committees.</a:t>
            </a:r>
          </a:p>
          <a:p>
            <a:pPr>
              <a:spcAft>
                <a:spcPts val="1000"/>
              </a:spcAft>
            </a:pPr>
            <a:r>
              <a:rPr b="1" sz="1150">
                <a:solidFill>
                  <a:srgbClr val="DA4100"/>
                </a:solidFill>
                <a:latin typeface="Segoe UI"/>
              </a:rPr>
              <a:t>• 'Skin in the Game' (Taleb): </a:t>
            </a:r>
            <a:r>
              <a:rPr b="0" sz="1150">
                <a:solidFill>
                  <a:srgbClr val="21140E"/>
                </a:solidFill>
                <a:latin typeface="Segoe UI"/>
              </a:rPr>
              <a:t>Unlike non-binding public opinion surveys or pundit TV talk, market participants face direct financial consequences for cognitive bias and inaccurate forecasts.</a:t>
            </a:r>
          </a:p>
          <a:p>
            <a:pPr>
              <a:spcAft>
                <a:spcPts val="1000"/>
              </a:spcAft>
            </a:pPr>
            <a:r>
              <a:rPr b="1" sz="1150">
                <a:solidFill>
                  <a:srgbClr val="DA4100"/>
                </a:solidFill>
                <a:latin typeface="Segoe UI"/>
              </a:rPr>
              <a:t>• Real-Time Bayesian Updating: </a:t>
            </a:r>
            <a:r>
              <a:rPr b="0" sz="1150">
                <a:solidFill>
                  <a:srgbClr val="21140E"/>
                </a:solidFill>
                <a:latin typeface="Segoe UI"/>
              </a:rPr>
              <a:t>Contract prices continuously incorporate breaking news, leaks, and macro indicators instantaneously via marginal trader capital.</a:t>
            </a:r>
          </a:p>
        </p:txBody>
      </p:sp>
      <p:sp>
        <p:nvSpPr>
          <p:cNvPr id="11" name="Rounded Rectangle 10"/>
          <p:cNvSpPr/>
          <p:nvPr/>
        </p:nvSpPr>
        <p:spPr>
          <a:xfrm>
            <a:off x="6400800" y="1554480"/>
            <a:ext cx="502920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737360"/>
            <a:ext cx="4572000" cy="4114800"/>
          </a:xfrm>
          <a:prstGeom prst="rect">
            <a:avLst/>
          </a:prstGeom>
          <a:noFill/>
        </p:spPr>
        <p:txBody>
          <a:bodyPr wrap="square">
            <a:spAutoFit/>
          </a:bodyPr>
          <a:lstStyle/>
          <a:p>
            <a:pPr>
              <a:spcAft>
                <a:spcPts val="1200"/>
              </a:spcAft>
              <a:defRPr sz="1600" b="1">
                <a:solidFill>
                  <a:srgbClr val="FF5900"/>
                </a:solidFill>
              </a:defRPr>
            </a:pPr>
            <a:r>
              <a:t>From 'Idea Futures' to Decision Markets</a:t>
            </a:r>
          </a:p>
          <a:p>
            <a:pPr>
              <a:spcAft>
                <a:spcPts val="900"/>
              </a:spcAft>
            </a:pPr>
            <a:r>
              <a:rPr b="1" sz="1100">
                <a:solidFill>
                  <a:srgbClr val="FF5900"/>
                </a:solidFill>
                <a:latin typeface="Segoe UI"/>
              </a:rPr>
              <a:t>1. Robin Hanson (1990s): </a:t>
            </a:r>
            <a:r>
              <a:rPr b="0" sz="1100">
                <a:solidFill>
                  <a:srgbClr val="F5EDE4"/>
                </a:solidFill>
                <a:latin typeface="Segoe UI"/>
              </a:rPr>
              <a:t>Formalized 'Idea Futures' and decision markets: creating financial derivatives on empirical propositions to settle intellectual and scientific debates.</a:t>
            </a:r>
          </a:p>
          <a:p>
            <a:pPr>
              <a:spcAft>
                <a:spcPts val="900"/>
              </a:spcAft>
            </a:pPr>
            <a:r>
              <a:rPr b="1" sz="1100">
                <a:solidFill>
                  <a:srgbClr val="FF5900"/>
                </a:solidFill>
                <a:latin typeface="Segoe UI"/>
              </a:rPr>
              <a:t>2. Iowa Electronic Markets (IEM): </a:t>
            </a:r>
            <a:r>
              <a:rPr b="0" sz="1100">
                <a:solidFill>
                  <a:srgbClr val="F5EDE4"/>
                </a:solidFill>
                <a:latin typeface="Segoe UI"/>
              </a:rPr>
              <a:t>Pioneered in 1988 by the University of Iowa under academic CFTC no-action relief, demonstrating superior accuracy over national presidential polls.</a:t>
            </a:r>
          </a:p>
          <a:p>
            <a:pPr>
              <a:spcAft>
                <a:spcPts val="900"/>
              </a:spcAft>
            </a:pPr>
            <a:r>
              <a:rPr b="1" sz="1100">
                <a:solidFill>
                  <a:srgbClr val="FF5900"/>
                </a:solidFill>
                <a:latin typeface="Segoe UI"/>
              </a:rPr>
              <a:t>3. Information Finance: </a:t>
            </a:r>
            <a:r>
              <a:rPr b="0" sz="1100">
                <a:solidFill>
                  <a:srgbClr val="F5EDE4"/>
                </a:solidFill>
                <a:latin typeface="Segoe UI"/>
              </a:rPr>
              <a:t>Transforming events (macro policy, weather, wars, regulatory approvals) into tradable financial assets with clear market-clearing prices.</a:t>
            </a:r>
          </a:p>
          <a:p>
            <a:pPr>
              <a:spcAft>
                <a:spcPts val="900"/>
              </a:spcAft>
            </a:pPr>
            <a:r>
              <a:rPr b="1" sz="1100">
                <a:solidFill>
                  <a:srgbClr val="FF5900"/>
                </a:solidFill>
                <a:latin typeface="Segoe UI"/>
              </a:rPr>
              <a:t>4. Futarchy Governance: </a:t>
            </a:r>
            <a:r>
              <a:rPr b="0" sz="1100">
                <a:solidFill>
                  <a:srgbClr val="F5EDE4"/>
                </a:solidFill>
                <a:latin typeface="Segoe UI"/>
              </a:rPr>
              <a:t>'Vote on values, bet on beliefs.' Using prediction markets to guide corporate and national policy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FINANCIAL ENGINEERING</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Binary Event Contracts: Pricing, Probability, and Payoff Mechanics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04/22</a:t>
            </a:r>
          </a:p>
        </p:txBody>
      </p:sp>
      <p:sp>
        <p:nvSpPr>
          <p:cNvPr id="9" name="Rounded Rectangle 8"/>
          <p:cNvSpPr/>
          <p:nvPr/>
        </p:nvSpPr>
        <p:spPr>
          <a:xfrm>
            <a:off x="731520" y="1554480"/>
            <a:ext cx="475488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389120" cy="4114800"/>
          </a:xfrm>
          <a:prstGeom prst="rect">
            <a:avLst/>
          </a:prstGeom>
          <a:noFill/>
        </p:spPr>
        <p:txBody>
          <a:bodyPr wrap="square">
            <a:spAutoFit/>
          </a:bodyPr>
          <a:lstStyle/>
          <a:p>
            <a:pPr>
              <a:spcAft>
                <a:spcPts val="1000"/>
              </a:spcAft>
              <a:defRPr sz="1500" b="1">
                <a:solidFill>
                  <a:srgbClr val="DA4100"/>
                </a:solidFill>
              </a:defRPr>
            </a:pPr>
            <a:r>
              <a:t>The Mathematics of Binary Payoffs</a:t>
            </a:r>
          </a:p>
          <a:p>
            <a:pPr>
              <a:spcAft>
                <a:spcPts val="800"/>
              </a:spcAft>
            </a:pPr>
            <a:r>
              <a:rPr b="1" sz="1100">
                <a:solidFill>
                  <a:srgbClr val="DA4100"/>
                </a:solidFill>
                <a:latin typeface="Segoe UI"/>
              </a:rPr>
              <a:t>• Discrete Binary Structure: </a:t>
            </a:r>
            <a:r>
              <a:rPr b="0" sz="1100">
                <a:solidFill>
                  <a:srgbClr val="21140E"/>
                </a:solidFill>
                <a:latin typeface="Segoe UI"/>
              </a:rPr>
              <a:t>Event contracts pay $1.00 if a strictly defined condition occurs before expiry, and $0.00 if it does not occur.</a:t>
            </a:r>
          </a:p>
          <a:p>
            <a:pPr>
              <a:spcAft>
                <a:spcPts val="800"/>
              </a:spcAft>
            </a:pPr>
            <a:r>
              <a:rPr b="1" sz="1100">
                <a:solidFill>
                  <a:srgbClr val="DA4100"/>
                </a:solidFill>
                <a:latin typeface="Segoe UI"/>
              </a:rPr>
              <a:t>• Price as Implied Probability: </a:t>
            </a:r>
            <a:r>
              <a:rPr b="0" sz="1100">
                <a:solidFill>
                  <a:srgbClr val="21140E"/>
                </a:solidFill>
                <a:latin typeface="Segoe UI"/>
              </a:rPr>
              <a:t>Under risk-neutral pricing, a contract trading at $0.65 implies an estimated market probability of 65% for the event:
Price = P(Outcome = 1) × $1.00</a:t>
            </a:r>
          </a:p>
          <a:p>
            <a:pPr>
              <a:spcAft>
                <a:spcPts val="800"/>
              </a:spcAft>
            </a:pPr>
            <a:r>
              <a:rPr b="1" sz="1100">
                <a:solidFill>
                  <a:srgbClr val="DA4100"/>
                </a:solidFill>
                <a:latin typeface="Segoe UI"/>
              </a:rPr>
              <a:t>• Asymmetric ROI Profile: </a:t>
            </a:r>
            <a:r>
              <a:rPr b="0" sz="1100">
                <a:solidFill>
                  <a:srgbClr val="21140E"/>
                </a:solidFill>
                <a:latin typeface="Segoe UI"/>
              </a:rPr>
              <a:t>Buying YES at $0.65 yields a profit of $0.35 (+53.8% return) if true, with a maximum downside of -$0.65 (-100%). Buying NO at $0.35 yields +185.7% if the event fails.</a:t>
            </a:r>
          </a:p>
          <a:p>
            <a:pPr>
              <a:spcAft>
                <a:spcPts val="800"/>
              </a:spcAft>
            </a:pPr>
            <a:r>
              <a:rPr b="1" sz="1100">
                <a:solidFill>
                  <a:srgbClr val="DA4100"/>
                </a:solidFill>
                <a:latin typeface="Segoe UI"/>
              </a:rPr>
              <a:t>• Expected Return Equation: </a:t>
            </a:r>
            <a:r>
              <a:rPr b="0" sz="1100">
                <a:solidFill>
                  <a:srgbClr val="21140E"/>
                </a:solidFill>
                <a:latin typeface="Segoe UI"/>
              </a:rPr>
              <a:t>An investor anticipating true probability p_{true} executes when:
E[R] = (p_{true} - p_{market}) / p_{market} &gt; 0</a:t>
            </a:r>
          </a:p>
          <a:p>
            <a:pPr>
              <a:spcAft>
                <a:spcPts val="800"/>
              </a:spcAft>
            </a:pPr>
            <a:r>
              <a:rPr b="1" sz="1100">
                <a:solidFill>
                  <a:srgbClr val="DA4100"/>
                </a:solidFill>
                <a:latin typeface="Segoe UI"/>
              </a:rPr>
              <a:t>• Arrow-Debreu Securities: </a:t>
            </a:r>
            <a:r>
              <a:rPr b="0" sz="1100">
                <a:solidFill>
                  <a:srgbClr val="21140E"/>
                </a:solidFill>
                <a:latin typeface="Segoe UI"/>
              </a:rPr>
              <a:t>Event contracts represent the purest empirical implementation of state-contingent claims in financial economics.</a:t>
            </a:r>
          </a:p>
        </p:txBody>
      </p:sp>
      <p:sp>
        <p:nvSpPr>
          <p:cNvPr id="11" name="Rounded Rectangle 10"/>
          <p:cNvSpPr/>
          <p:nvPr/>
        </p:nvSpPr>
        <p:spPr>
          <a:xfrm>
            <a:off x="57607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_binary_payoff.png"/>
          <p:cNvPicPr>
            <a:picLocks noChangeAspect="1"/>
          </p:cNvPicPr>
          <p:nvPr/>
        </p:nvPicPr>
        <p:blipFill>
          <a:blip r:embed="rId3"/>
          <a:stretch>
            <a:fillRect/>
          </a:stretch>
        </p:blipFill>
        <p:spPr>
          <a:xfrm>
            <a:off x="5852160" y="1691640"/>
            <a:ext cx="5486400" cy="249381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MARKET MICROSTRUCTURE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Binary Order Books: The Complementary Yes/No Architecture</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05/22</a:t>
            </a:r>
          </a:p>
        </p:txBody>
      </p:sp>
      <p:sp>
        <p:nvSpPr>
          <p:cNvPr id="9" name="Rounded Rectangle 8"/>
          <p:cNvSpPr/>
          <p:nvPr/>
        </p:nvSpPr>
        <p:spPr>
          <a:xfrm>
            <a:off x="7315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pm_microstructure.png"/>
          <p:cNvPicPr>
            <a:picLocks noChangeAspect="1"/>
          </p:cNvPicPr>
          <p:nvPr/>
        </p:nvPicPr>
        <p:blipFill>
          <a:blip r:embed="rId3"/>
          <a:stretch>
            <a:fillRect/>
          </a:stretch>
        </p:blipFill>
        <p:spPr>
          <a:xfrm>
            <a:off x="822960" y="1691640"/>
            <a:ext cx="5486400" cy="2743200"/>
          </a:xfrm>
          <a:prstGeom prst="rect">
            <a:avLst/>
          </a:prstGeom>
        </p:spPr>
      </p:pic>
      <p:sp>
        <p:nvSpPr>
          <p:cNvPr id="11" name="Rounded Rectangle 10"/>
          <p:cNvSpPr/>
          <p:nvPr/>
        </p:nvSpPr>
        <p:spPr>
          <a:xfrm>
            <a:off x="6675120" y="1554480"/>
            <a:ext cx="475488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737360"/>
            <a:ext cx="4389120" cy="4114800"/>
          </a:xfrm>
          <a:prstGeom prst="rect">
            <a:avLst/>
          </a:prstGeom>
          <a:noFill/>
        </p:spPr>
        <p:txBody>
          <a:bodyPr wrap="square">
            <a:spAutoFit/>
          </a:bodyPr>
          <a:lstStyle/>
          <a:p>
            <a:pPr>
              <a:spcAft>
                <a:spcPts val="1000"/>
              </a:spcAft>
              <a:defRPr sz="1500" b="1">
                <a:solidFill>
                  <a:srgbClr val="FF5900"/>
                </a:solidFill>
              </a:defRPr>
            </a:pPr>
            <a:r>
              <a:t>The Complementary Arbitrage Rule</a:t>
            </a:r>
          </a:p>
          <a:p>
            <a:pPr>
              <a:spcAft>
                <a:spcPts val="800"/>
              </a:spcAft>
            </a:pPr>
            <a:r>
              <a:rPr b="1" sz="1100">
                <a:solidFill>
                  <a:srgbClr val="FF5900"/>
                </a:solidFill>
                <a:latin typeface="Segoe UI"/>
              </a:rPr>
              <a:t>• Invariant Pricing Constraint: </a:t>
            </a:r>
            <a:r>
              <a:rPr b="0" sz="1100">
                <a:solidFill>
                  <a:srgbClr val="F5EDE4"/>
                </a:solidFill>
                <a:latin typeface="Segoe UI"/>
              </a:rPr>
              <a:t>Because exactly one outcome must occur, the prices of the complementary shares must sum to $1.00:
Price(YES) + Price(NO) = $1.00</a:t>
            </a:r>
          </a:p>
          <a:p>
            <a:pPr>
              <a:spcAft>
                <a:spcPts val="800"/>
              </a:spcAft>
            </a:pPr>
            <a:r>
              <a:rPr b="1" sz="1100">
                <a:solidFill>
                  <a:srgbClr val="FF5900"/>
                </a:solidFill>
                <a:latin typeface="Segoe UI"/>
              </a:rPr>
              <a:t>• Synthetic Equivalences: </a:t>
            </a:r>
            <a:r>
              <a:rPr b="0" sz="1100">
                <a:solidFill>
                  <a:srgbClr val="F5EDE4"/>
                </a:solidFill>
                <a:latin typeface="Segoe UI"/>
              </a:rPr>
              <a:t>Buying a YES contract at $0.65 is mathematically identical to selling short (or writing) a NO contract at $0.35:
Bid_{Yes} = 1.00 - Ask_{No}
Ask_{Yes} = 1.00 - Bid_{No}</a:t>
            </a:r>
          </a:p>
          <a:p>
            <a:pPr>
              <a:spcAft>
                <a:spcPts val="800"/>
              </a:spcAft>
            </a:pPr>
            <a:r>
              <a:rPr b="1" sz="1100">
                <a:solidFill>
                  <a:srgbClr val="FF5900"/>
                </a:solidFill>
                <a:latin typeface="Segoe UI"/>
              </a:rPr>
              <a:t>• Minting &amp; Burning Mechanism: </a:t>
            </a:r>
            <a:r>
              <a:rPr b="0" sz="1100">
                <a:solidFill>
                  <a:srgbClr val="F5EDE4"/>
                </a:solidFill>
                <a:latin typeface="Segoe UI"/>
              </a:rPr>
              <a:t>Traders can deposit $1.00 of collateral (USD on Kalshi, USDC on Polymarket) to 'mint' 1 YES + 1 NO share. Conversely, holding 1 YES + 1 NO can be 'burned' at any time to redeem $1.00 risk-free.</a:t>
            </a:r>
          </a:p>
          <a:p>
            <a:pPr>
              <a:spcAft>
                <a:spcPts val="800"/>
              </a:spcAft>
            </a:pPr>
            <a:r>
              <a:rPr b="1" sz="1100">
                <a:solidFill>
                  <a:srgbClr val="FF5900"/>
                </a:solidFill>
                <a:latin typeface="Segoe UI"/>
              </a:rPr>
              <a:t>• Cross-Market Arbitrage: </a:t>
            </a:r>
            <a:r>
              <a:rPr b="0" sz="1100">
                <a:solidFill>
                  <a:srgbClr val="F5EDE4"/>
                </a:solidFill>
                <a:latin typeface="Segoe UI"/>
              </a:rPr>
              <a:t>Any momentary pricing discrepancy where Price(YES) + Price(NO) &lt; $1.00 triggers instant algorithmic risk-free mint/burn arbitrage.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REGULATED CENTRALIZED MARKETS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Kalshi: CFTC Designated Contract Market (DCM) &amp; USD Clearing</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06/22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Institutional Oversight</a:t>
            </a:r>
          </a:p>
          <a:p>
            <a:pPr>
              <a:spcAft>
                <a:spcPts val="700"/>
              </a:spcAft>
            </a:pPr>
            <a:r>
              <a:rPr b="1" sz="1050">
                <a:solidFill>
                  <a:srgbClr val="DA4100"/>
                </a:solidFill>
                <a:latin typeface="Segoe UI"/>
              </a:rPr>
              <a:t>• CFTC Licensed (DCM): </a:t>
            </a:r>
            <a:r>
              <a:rPr b="0" sz="1050">
                <a:solidFill>
                  <a:srgbClr val="21140E"/>
                </a:solidFill>
                <a:latin typeface="Segoe UI"/>
              </a:rPr>
              <a:t>Granted Designated Contract Market status in November 2020 by the Commodity Futures Trading Commission.</a:t>
            </a:r>
          </a:p>
          <a:p>
            <a:pPr>
              <a:spcAft>
                <a:spcPts val="700"/>
              </a:spcAft>
            </a:pPr>
            <a:r>
              <a:rPr b="1" sz="1050">
                <a:solidFill>
                  <a:srgbClr val="DA4100"/>
                </a:solidFill>
                <a:latin typeface="Segoe UI"/>
              </a:rPr>
              <a:t>• Derivatives Clearing Organization: </a:t>
            </a:r>
            <a:r>
              <a:rPr b="0" sz="1050">
                <a:solidFill>
                  <a:srgbClr val="21140E"/>
                </a:solidFill>
                <a:latin typeface="Segoe UI"/>
              </a:rPr>
              <a:t>Trades clear through regulated DCOs (LedgerX/Kalshi Clearing) with segregated customer funds.</a:t>
            </a:r>
          </a:p>
          <a:p>
            <a:pPr>
              <a:spcAft>
                <a:spcPts val="700"/>
              </a:spcAft>
            </a:pPr>
            <a:r>
              <a:rPr b="1" sz="1050">
                <a:solidFill>
                  <a:srgbClr val="DA4100"/>
                </a:solidFill>
                <a:latin typeface="Segoe UI"/>
              </a:rPr>
              <a:t>• Full Legal Compliance: </a:t>
            </a:r>
            <a:r>
              <a:rPr b="0" sz="1050">
                <a:solidFill>
                  <a:srgbClr val="21140E"/>
                </a:solidFill>
                <a:latin typeface="Segoe UI"/>
              </a:rPr>
              <a:t>Subject to the Commodity Exchange Act (CEA), Bank Secrecy Act (BSA), and federal AML/KYC checks.</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Fiat Rails &amp; Microstructure</a:t>
            </a:r>
          </a:p>
          <a:p>
            <a:pPr>
              <a:spcAft>
                <a:spcPts val="700"/>
              </a:spcAft>
            </a:pPr>
            <a:r>
              <a:rPr b="1" sz="1050">
                <a:solidFill>
                  <a:srgbClr val="FF5900"/>
                </a:solidFill>
                <a:latin typeface="Segoe UI"/>
              </a:rPr>
              <a:t>• Direct US Dollar Settlement: </a:t>
            </a:r>
            <a:r>
              <a:rPr b="0" sz="1050">
                <a:solidFill>
                  <a:srgbClr val="F5EDE4"/>
                </a:solidFill>
                <a:latin typeface="Segoe UI"/>
              </a:rPr>
              <a:t>Funding via ACH, domestic wire transfers, and debit cards directly into US FDIC-insured depository accounts.</a:t>
            </a:r>
          </a:p>
          <a:p>
            <a:pPr>
              <a:spcAft>
                <a:spcPts val="700"/>
              </a:spcAft>
            </a:pPr>
            <a:r>
              <a:rPr b="1" sz="1050">
                <a:solidFill>
                  <a:srgbClr val="FF5900"/>
                </a:solidFill>
                <a:latin typeface="Segoe UI"/>
              </a:rPr>
              <a:t>• Central Limit Order Book (CLOB): </a:t>
            </a:r>
            <a:r>
              <a:rPr b="0" sz="1050">
                <a:solidFill>
                  <a:srgbClr val="F5EDE4"/>
                </a:solidFill>
                <a:latin typeface="Segoe UI"/>
              </a:rPr>
              <a:t>High-frequency in-memory matching engine located in US colocation data centers; zero blockchain gas.</a:t>
            </a:r>
          </a:p>
          <a:p>
            <a:pPr>
              <a:spcAft>
                <a:spcPts val="700"/>
              </a:spcAft>
            </a:pPr>
            <a:r>
              <a:rPr b="1" sz="1050">
                <a:solidFill>
                  <a:srgbClr val="FF5900"/>
                </a:solidFill>
                <a:latin typeface="Segoe UI"/>
              </a:rPr>
              <a:t>• Fee Schedule: </a:t>
            </a:r>
            <a:r>
              <a:rPr b="0" sz="1050">
                <a:solidFill>
                  <a:srgbClr val="F5EDE4"/>
                </a:solidFill>
                <a:latin typeface="Segoe UI"/>
              </a:rPr>
              <a:t>Modest taker fees per contract ($0.01 - $0.02) with maker rebates for registered liquidity providers.</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Target Markets &amp; Compliance</a:t>
            </a:r>
          </a:p>
          <a:p>
            <a:pPr>
              <a:spcAft>
                <a:spcPts val="700"/>
              </a:spcAft>
            </a:pPr>
            <a:r>
              <a:rPr b="1" sz="1050">
                <a:solidFill>
                  <a:srgbClr val="3D2314"/>
                </a:solidFill>
                <a:latin typeface="Segoe UI"/>
              </a:rPr>
              <a:t>• Macroeconomic Contracts: </a:t>
            </a:r>
            <a:r>
              <a:rPr b="0" sz="1050">
                <a:solidFill>
                  <a:srgbClr val="21140E"/>
                </a:solidFill>
                <a:latin typeface="Segoe UI"/>
              </a:rPr>
              <a:t>CPI inflation prints, Federal Reserve FOMC rate decisions, GDP releases, and US nonfarm payrolls.</a:t>
            </a:r>
          </a:p>
          <a:p>
            <a:pPr>
              <a:spcAft>
                <a:spcPts val="700"/>
              </a:spcAft>
            </a:pPr>
            <a:r>
              <a:rPr b="1" sz="1050">
                <a:solidFill>
                  <a:srgbClr val="3D2314"/>
                </a:solidFill>
                <a:latin typeface="Segoe UI"/>
              </a:rPr>
              <a:t>• Position Limits: </a:t>
            </a:r>
            <a:r>
              <a:rPr b="0" sz="1050">
                <a:solidFill>
                  <a:srgbClr val="21140E"/>
                </a:solidFill>
                <a:latin typeface="Segoe UI"/>
              </a:rPr>
              <a:t>Regulatory caps on contract sizes per account (ranging from $25,000 to millions for institutional hedging members).</a:t>
            </a:r>
          </a:p>
          <a:p>
            <a:pPr>
              <a:spcAft>
                <a:spcPts val="700"/>
              </a:spcAft>
            </a:pPr>
            <a:r>
              <a:rPr b="1" sz="1050">
                <a:solidFill>
                  <a:srgbClr val="3D2314"/>
                </a:solidFill>
                <a:latin typeface="Segoe UI"/>
              </a:rPr>
              <a:t>• US Retail Exclusivity: </a:t>
            </a:r>
            <a:r>
              <a:rPr b="0" sz="1050">
                <a:solidFill>
                  <a:srgbClr val="21140E"/>
                </a:solidFill>
                <a:latin typeface="Segoe UI"/>
              </a:rPr>
              <a:t>Primarily serves verified US citizens and domestic institutional trading firms.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JUDICIAL &amp; REGULATORY LANDMARK</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Kalshi v. CFTC: The Legal Battle Over Congressional &amp; Election Markets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07/22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The Regulatory Confrontation (2022-2024)</a:t>
            </a:r>
          </a:p>
          <a:p>
            <a:pPr>
              <a:spcAft>
                <a:spcPts val="800"/>
              </a:spcAft>
            </a:pPr>
            <a:r>
              <a:rPr b="1" sz="1100">
                <a:solidFill>
                  <a:srgbClr val="DA4100"/>
                </a:solidFill>
                <a:latin typeface="Segoe UI"/>
              </a:rPr>
              <a:t>• The CFTC's Prohibition Order (2023): </a:t>
            </a:r>
            <a:r>
              <a:rPr b="0" sz="1100">
                <a:solidFill>
                  <a:srgbClr val="21140E"/>
                </a:solidFill>
                <a:latin typeface="Segoe UI"/>
              </a:rPr>
              <a:t>The CFTC prohibited Kalshi from listing political event contracts (e.g., 'Will Democrats control the Senate?'), claiming they constituted unlawful 'gaming' under CEA § 5c(c)(5)(C) and were contrary to the public interest.</a:t>
            </a:r>
          </a:p>
          <a:p>
            <a:pPr>
              <a:spcAft>
                <a:spcPts val="800"/>
              </a:spcAft>
            </a:pPr>
            <a:r>
              <a:rPr b="1" sz="1100">
                <a:solidFill>
                  <a:srgbClr val="DA4100"/>
                </a:solidFill>
                <a:latin typeface="Segoe UI"/>
              </a:rPr>
              <a:t>• Kalshi's Lawsuit (Nov 2023): </a:t>
            </a:r>
            <a:r>
              <a:rPr b="0" sz="1100">
                <a:solidFill>
                  <a:srgbClr val="21140E"/>
                </a:solidFill>
                <a:latin typeface="Segoe UI"/>
              </a:rPr>
              <a:t>Kalshi filed suit in the US District Court for the District of Columbia, arguing that political control is NOT 'gaming' (which legally refers to games of chance/sports) and that election outcomes carry profound economic consequences.</a:t>
            </a:r>
          </a:p>
          <a:p>
            <a:pPr>
              <a:spcAft>
                <a:spcPts val="800"/>
              </a:spcAft>
            </a:pPr>
            <a:r>
              <a:rPr b="1" sz="1100">
                <a:solidFill>
                  <a:srgbClr val="DA4100"/>
                </a:solidFill>
                <a:latin typeface="Segoe UI"/>
              </a:rPr>
              <a:t>• The Landmark Ruling (Sept 2024): </a:t>
            </a:r>
            <a:r>
              <a:rPr b="0" sz="1100">
                <a:solidFill>
                  <a:srgbClr val="21140E"/>
                </a:solidFill>
                <a:latin typeface="Segoe UI"/>
              </a:rPr>
              <a:t>Judge Jia M. Cobb ruled in Kalshi's favor, vacating the CFTC's order: 'This case is not about whether the Court thinks election trading is a good idea... The CFTC exceeded its statutory authority.'</a:t>
            </a:r>
          </a:p>
          <a:p>
            <a:pPr>
              <a:spcAft>
                <a:spcPts val="800"/>
              </a:spcAft>
            </a:pPr>
            <a:r>
              <a:rPr b="1" sz="1100">
                <a:solidFill>
                  <a:srgbClr val="DA4100"/>
                </a:solidFill>
                <a:latin typeface="Segoe UI"/>
              </a:rPr>
              <a:t>• DC Circuit Emergency Stay Denied: </a:t>
            </a:r>
            <a:r>
              <a:rPr b="0" sz="1100">
                <a:solidFill>
                  <a:srgbClr val="21140E"/>
                </a:solidFill>
                <a:latin typeface="Segoe UI"/>
              </a:rPr>
              <a:t>The appellate court refused the CFTC's emergency motion to freeze trading, legally greenlighting US regulated election markets weeks before the 2024 election.</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Legal &amp; Economic Implications</a:t>
            </a:r>
          </a:p>
          <a:p>
            <a:pPr>
              <a:spcAft>
                <a:spcPts val="800"/>
              </a:spcAft>
            </a:pPr>
            <a:r>
              <a:rPr b="1" sz="1100">
                <a:solidFill>
                  <a:srgbClr val="FF5900"/>
                </a:solidFill>
                <a:latin typeface="Segoe UI"/>
              </a:rPr>
              <a:t>1. A New Financial Asset Class: </a:t>
            </a:r>
            <a:r>
              <a:rPr b="0" sz="1100">
                <a:solidFill>
                  <a:srgbClr val="F5EDE4"/>
                </a:solidFill>
                <a:latin typeface="Segoe UI"/>
              </a:rPr>
              <a:t>Officially codified political risk as a legitimate economic derivative eligible for CFTC-regulated exchange trading in the United States.</a:t>
            </a:r>
          </a:p>
          <a:p>
            <a:pPr>
              <a:spcAft>
                <a:spcPts val="800"/>
              </a:spcAft>
            </a:pPr>
            <a:r>
              <a:rPr b="1" sz="1100">
                <a:solidFill>
                  <a:srgbClr val="FF5900"/>
                </a:solidFill>
                <a:latin typeface="Segoe UI"/>
              </a:rPr>
              <a:t>2. Commercial Hedging Legitimacy: </a:t>
            </a:r>
            <a:r>
              <a:rPr b="0" sz="1100">
                <a:solidFill>
                  <a:srgbClr val="F5EDE4"/>
                </a:solidFill>
                <a:latin typeface="Segoe UI"/>
              </a:rPr>
              <a:t>Businesses can now legally hedge against government regulatory policy shifts, tax law changes, and legislative turnover.</a:t>
            </a:r>
          </a:p>
          <a:p>
            <a:pPr>
              <a:spcAft>
                <a:spcPts val="800"/>
              </a:spcAft>
            </a:pPr>
            <a:r>
              <a:rPr b="1" sz="1100">
                <a:solidFill>
                  <a:srgbClr val="FF5900"/>
                </a:solidFill>
                <a:latin typeface="Segoe UI"/>
              </a:rPr>
              <a:t>3. Wall Street Integration: </a:t>
            </a:r>
            <a:r>
              <a:rPr b="0" sz="1100">
                <a:solidFill>
                  <a:srgbClr val="F5EDE4"/>
                </a:solidFill>
                <a:latin typeface="Segoe UI"/>
              </a:rPr>
              <a:t>Major brokerage platforms (Robinhood, Interactive Brokers) immediately initiated integration of election contracts for retail investors.</a:t>
            </a:r>
          </a:p>
          <a:p>
            <a:pPr>
              <a:spcAft>
                <a:spcPts val="800"/>
              </a:spcAft>
            </a:pPr>
            <a:r>
              <a:rPr b="1" sz="1100">
                <a:solidFill>
                  <a:srgbClr val="FF5900"/>
                </a:solidFill>
                <a:latin typeface="Segoe UI"/>
              </a:rPr>
              <a:t>4. Congressional Backlash: </a:t>
            </a:r>
            <a:r>
              <a:rPr b="0" sz="1100">
                <a:solidFill>
                  <a:srgbClr val="F5EDE4"/>
                </a:solidFill>
                <a:latin typeface="Segoe UI"/>
              </a:rPr>
              <a:t>Prominent lawmakers (Sen. Elizabeth Warren) voiced concerns over election integrity, calling for legislative bans on political betting.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DECENTRALIZED WEB3 MARKETS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Polymarket: Polygon PoS L2, USDC Collateral &amp; Web3 Architecture</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08/22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Technical Infrastructure</a:t>
            </a:r>
          </a:p>
          <a:p>
            <a:pPr>
              <a:spcAft>
                <a:spcPts val="700"/>
              </a:spcAft>
            </a:pPr>
            <a:r>
              <a:rPr b="1" sz="1050">
                <a:solidFill>
                  <a:srgbClr val="DA4100"/>
                </a:solidFill>
                <a:latin typeface="Segoe UI"/>
              </a:rPr>
              <a:t>• Built on Polygon PoS: </a:t>
            </a:r>
            <a:r>
              <a:rPr b="0" sz="1050">
                <a:solidFill>
                  <a:srgbClr val="21140E"/>
                </a:solidFill>
                <a:latin typeface="Segoe UI"/>
              </a:rPr>
              <a:t>Leverages an Ethereum Layer-2 sidechain to achieve sub-second finality and near-zero gas fees.</a:t>
            </a:r>
          </a:p>
          <a:p>
            <a:pPr>
              <a:spcAft>
                <a:spcPts val="700"/>
              </a:spcAft>
            </a:pPr>
            <a:r>
              <a:rPr b="1" sz="1050">
                <a:solidFill>
                  <a:srgbClr val="DA4100"/>
                </a:solidFill>
                <a:latin typeface="Segoe UI"/>
              </a:rPr>
              <a:t>• Non-Custodial Architecture: </a:t>
            </a:r>
            <a:r>
              <a:rPr b="0" sz="1050">
                <a:solidFill>
                  <a:srgbClr val="21140E"/>
                </a:solidFill>
                <a:latin typeface="Segoe UI"/>
              </a:rPr>
              <a:t>Users retain full sovereign control over assets via self-custody smart contract wallets (MetaMask, Safe, Magic Link).</a:t>
            </a:r>
          </a:p>
          <a:p>
            <a:pPr>
              <a:spcAft>
                <a:spcPts val="700"/>
              </a:spcAft>
            </a:pPr>
            <a:r>
              <a:rPr b="1" sz="1050">
                <a:solidFill>
                  <a:srgbClr val="DA4100"/>
                </a:solidFill>
                <a:latin typeface="Segoe UI"/>
              </a:rPr>
              <a:t>• USDC Collateralization: </a:t>
            </a:r>
            <a:r>
              <a:rPr b="0" sz="1050">
                <a:solidFill>
                  <a:srgbClr val="21140E"/>
                </a:solidFill>
                <a:latin typeface="Segoe UI"/>
              </a:rPr>
              <a:t>All markets denominated strictly in Circle's USD Coin (USDC) bridged onto Polygon.</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Hybrid CLOB Engine</a:t>
            </a:r>
          </a:p>
          <a:p>
            <a:pPr>
              <a:spcAft>
                <a:spcPts val="700"/>
              </a:spcAft>
            </a:pPr>
            <a:r>
              <a:rPr b="1" sz="1050">
                <a:solidFill>
                  <a:srgbClr val="FF5900"/>
                </a:solidFill>
                <a:latin typeface="Segoe UI"/>
              </a:rPr>
              <a:t>• Off-Chain Order Matching: </a:t>
            </a:r>
            <a:r>
              <a:rPr b="0" sz="1050">
                <a:solidFill>
                  <a:srgbClr val="F5EDE4"/>
                </a:solidFill>
                <a:latin typeface="Segoe UI"/>
              </a:rPr>
              <a:t>Replaced early AMM designs with an off-chain Central Limit Order Book with on-chain atomic settlement.</a:t>
            </a:r>
          </a:p>
          <a:p>
            <a:pPr>
              <a:spcAft>
                <a:spcPts val="700"/>
              </a:spcAft>
            </a:pPr>
            <a:r>
              <a:rPr b="1" sz="1050">
                <a:solidFill>
                  <a:srgbClr val="FF5900"/>
                </a:solidFill>
                <a:latin typeface="Segoe UI"/>
              </a:rPr>
              <a:t>• 0% Trading Fees: </a:t>
            </a:r>
            <a:r>
              <a:rPr b="0" sz="1050">
                <a:solidFill>
                  <a:srgbClr val="F5EDE4"/>
                </a:solidFill>
                <a:latin typeface="Segoe UI"/>
              </a:rPr>
              <a:t>Free trading on order books subsidized by network infrastructure and algorithmic maker incentive pools.</a:t>
            </a:r>
          </a:p>
          <a:p>
            <a:pPr>
              <a:spcAft>
                <a:spcPts val="700"/>
              </a:spcAft>
            </a:pPr>
            <a:r>
              <a:rPr b="1" sz="1050">
                <a:solidFill>
                  <a:srgbClr val="FF5900"/>
                </a:solidFill>
                <a:latin typeface="Segoe UI"/>
              </a:rPr>
              <a:t>• Global Crypto Liquidity: </a:t>
            </a:r>
            <a:r>
              <a:rPr b="0" sz="1050">
                <a:solidFill>
                  <a:srgbClr val="F5EDE4"/>
                </a:solidFill>
                <a:latin typeface="Segoe UI"/>
              </a:rPr>
              <a:t>Attracted global capital from crypto hedge funds, venture funds, and decentralized finance (DeFi) traders.</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Market Scope &amp; Virality</a:t>
            </a:r>
          </a:p>
          <a:p>
            <a:pPr>
              <a:spcAft>
                <a:spcPts val="700"/>
              </a:spcAft>
            </a:pPr>
            <a:r>
              <a:rPr b="1" sz="1050">
                <a:solidFill>
                  <a:srgbClr val="3D2314"/>
                </a:solidFill>
                <a:latin typeface="Segoe UI"/>
              </a:rPr>
              <a:t>• Permissionless Listing Speed: </a:t>
            </a:r>
            <a:r>
              <a:rPr b="0" sz="1050">
                <a:solidFill>
                  <a:srgbClr val="21140E"/>
                </a:solidFill>
                <a:latin typeface="Segoe UI"/>
              </a:rPr>
              <a:t>Rapidly lists niche cultural, geopolitical, crypto, pop-culture, and global political questions.</a:t>
            </a:r>
          </a:p>
          <a:p>
            <a:pPr>
              <a:spcAft>
                <a:spcPts val="700"/>
              </a:spcAft>
            </a:pPr>
            <a:r>
              <a:rPr b="1" sz="1050">
                <a:solidFill>
                  <a:srgbClr val="3D2314"/>
                </a:solidFill>
                <a:latin typeface="Segoe UI"/>
              </a:rPr>
              <a:t>• Social Media Embedding: </a:t>
            </a:r>
            <a:r>
              <a:rPr b="0" sz="1050">
                <a:solidFill>
                  <a:srgbClr val="21140E"/>
                </a:solidFill>
                <a:latin typeface="Segoe UI"/>
              </a:rPr>
              <a:t>Live dynamic odds embedded natively on X (Twitter), Substack, and global financial news media.</a:t>
            </a:r>
          </a:p>
          <a:p>
            <a:pPr>
              <a:spcAft>
                <a:spcPts val="700"/>
              </a:spcAft>
            </a:pPr>
            <a:r>
              <a:rPr b="1" sz="1050">
                <a:solidFill>
                  <a:srgbClr val="3D2314"/>
                </a:solidFill>
                <a:latin typeface="Segoe UI"/>
              </a:rPr>
              <a:t>• Multi-Billion Scale: </a:t>
            </a:r>
            <a:r>
              <a:rPr b="0" sz="1050">
                <a:solidFill>
                  <a:srgbClr val="21140E"/>
                </a:solidFill>
                <a:latin typeface="Segoe UI"/>
              </a:rPr>
              <a:t>Processed over $3.8B in volume in 2024 alone, cementing itself as the world's largest event market.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REGULATORY CONFLICT &amp; SOVEREIGNTY</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Polymarket's Regulatory Dilemma: 2022 CFTC Settlement &amp; Geoblocking</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09/22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The 2022 CFTC Enforcement Action</a:t>
            </a:r>
          </a:p>
          <a:p>
            <a:pPr>
              <a:spcAft>
                <a:spcPts val="800"/>
              </a:spcAft>
            </a:pPr>
            <a:r>
              <a:rPr b="1" sz="1100">
                <a:solidFill>
                  <a:srgbClr val="DA4100"/>
                </a:solidFill>
                <a:latin typeface="Segoe UI"/>
              </a:rPr>
              <a:t>• January 2022 Consent Order: </a:t>
            </a:r>
            <a:r>
              <a:rPr b="0" sz="1100">
                <a:solidFill>
                  <a:srgbClr val="21140E"/>
                </a:solidFill>
                <a:latin typeface="Segoe UI"/>
              </a:rPr>
              <a:t>The CFTC charged Polymarket (Blockratize Inc.) with operating an unregistered binary options facility and failing to obtain DCM or SEF status under the CEA.</a:t>
            </a:r>
          </a:p>
          <a:p>
            <a:pPr>
              <a:spcAft>
                <a:spcPts val="800"/>
              </a:spcAft>
            </a:pPr>
            <a:r>
              <a:rPr b="1" sz="1100">
                <a:solidFill>
                  <a:srgbClr val="DA4100"/>
                </a:solidFill>
                <a:latin typeface="Segoe UI"/>
              </a:rPr>
              <a:t>• $1.4 Million Civil Penalty: </a:t>
            </a:r>
            <a:r>
              <a:rPr b="0" sz="1100">
                <a:solidFill>
                  <a:srgbClr val="21140E"/>
                </a:solidFill>
                <a:latin typeface="Segoe UI"/>
              </a:rPr>
              <a:t>Polymarket paid a $1.4M fine without admitting or denying guilt, agreeing to wind down non-compliant markets and block US residents.</a:t>
            </a:r>
          </a:p>
          <a:p>
            <a:pPr>
              <a:spcAft>
                <a:spcPts val="800"/>
              </a:spcAft>
            </a:pPr>
            <a:r>
              <a:rPr b="1" sz="1100">
                <a:solidFill>
                  <a:srgbClr val="DA4100"/>
                </a:solidFill>
                <a:latin typeface="Segoe UI"/>
              </a:rPr>
              <a:t>• Strict Geofencing Policy: </a:t>
            </a:r>
            <a:r>
              <a:rPr b="0" sz="1100">
                <a:solidFill>
                  <a:srgbClr val="21140E"/>
                </a:solidFill>
                <a:latin typeface="Segoe UI"/>
              </a:rPr>
              <a:t>Polymarket implemented IP-based geoblocking and front-end terms of service barring US persons from trading.</a:t>
            </a:r>
          </a:p>
          <a:p>
            <a:pPr>
              <a:spcAft>
                <a:spcPts val="800"/>
              </a:spcAft>
            </a:pPr>
            <a:r>
              <a:rPr b="1" sz="1100">
                <a:solidFill>
                  <a:srgbClr val="DA4100"/>
                </a:solidFill>
                <a:latin typeface="Segoe UI"/>
              </a:rPr>
              <a:t>• The Decentralized Disconnect: </a:t>
            </a:r>
            <a:r>
              <a:rPr b="0" sz="1100">
                <a:solidFill>
                  <a:srgbClr val="21140E"/>
                </a:solidFill>
                <a:latin typeface="Segoe UI"/>
              </a:rPr>
              <a:t>While the centralized web portal blocks US IPs, the underlying Polygon smart contracts remain immutable, permissionless, and transparent on-chain.</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The Offshore / VPN Liquidity Paradox</a:t>
            </a:r>
          </a:p>
          <a:p>
            <a:pPr>
              <a:spcAft>
                <a:spcPts val="800"/>
              </a:spcAft>
            </a:pPr>
            <a:r>
              <a:rPr b="1" sz="1100">
                <a:solidFill>
                  <a:srgbClr val="FF5900"/>
                </a:solidFill>
                <a:latin typeface="Segoe UI"/>
              </a:rPr>
              <a:t>1. Global Ex-US Market Traction: </a:t>
            </a:r>
            <a:r>
              <a:rPr b="0" sz="1100">
                <a:solidFill>
                  <a:srgbClr val="F5EDE4"/>
                </a:solidFill>
                <a:latin typeface="Segoe UI"/>
              </a:rPr>
              <a:t>Massive organic participation from Europe, Asia, and Latin America looking for high-liquidity prediction venues.</a:t>
            </a:r>
          </a:p>
          <a:p>
            <a:pPr>
              <a:spcAft>
                <a:spcPts val="800"/>
              </a:spcAft>
            </a:pPr>
            <a:r>
              <a:rPr b="1" sz="1100">
                <a:solidFill>
                  <a:srgbClr val="FF5900"/>
                </a:solidFill>
                <a:latin typeface="Segoe UI"/>
              </a:rPr>
              <a:t>2. The VPN Open Secret: </a:t>
            </a:r>
            <a:r>
              <a:rPr b="0" sz="1100">
                <a:solidFill>
                  <a:srgbClr val="F5EDE4"/>
                </a:solidFill>
                <a:latin typeface="Segoe UI"/>
              </a:rPr>
              <a:t>Widespread allegations that substantial US liquidity circumvents front-end geofencing through Virtual Private Networks (VPNs).</a:t>
            </a:r>
          </a:p>
          <a:p>
            <a:pPr>
              <a:spcAft>
                <a:spcPts val="800"/>
              </a:spcAft>
            </a:pPr>
            <a:r>
              <a:rPr b="1" sz="1100">
                <a:solidFill>
                  <a:srgbClr val="FF5900"/>
                </a:solidFill>
                <a:latin typeface="Segoe UI"/>
              </a:rPr>
              <a:t>3. FBI &amp; DOJ Investigation (Nov 2024): </a:t>
            </a:r>
            <a:r>
              <a:rPr b="0" sz="1100">
                <a:solidFill>
                  <a:srgbClr val="F5EDE4"/>
                </a:solidFill>
                <a:latin typeface="Segoe UI"/>
              </a:rPr>
              <a:t>Following the election, federal authorities seized Polymarket CEO Shayne Coplan's electronic devices in an investigation over whether US users accessed the exchange.</a:t>
            </a:r>
          </a:p>
          <a:p>
            <a:pPr>
              <a:spcAft>
                <a:spcPts val="800"/>
              </a:spcAft>
            </a:pPr>
            <a:r>
              <a:rPr b="1" sz="1100">
                <a:solidFill>
                  <a:srgbClr val="FF5900"/>
                </a:solidFill>
                <a:latin typeface="Segoe UI"/>
              </a:rPr>
              <a:t>4. Regulatory Divergence: </a:t>
            </a:r>
            <a:r>
              <a:rPr b="0" sz="1100">
                <a:solidFill>
                  <a:srgbClr val="F5EDE4"/>
                </a:solidFill>
                <a:latin typeface="Segoe UI"/>
              </a:rPr>
              <a:t>Highlights the sharp contrast between regulated US compliance (Kalshi) and borderless Web3 protocols (Polymarket).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MARKET EVOLUTION &amp; SCALE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2024 Election Supercycle: The Parabolic Inflection Point</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10/22</a:t>
            </a:r>
          </a:p>
        </p:txBody>
      </p:sp>
      <p:sp>
        <p:nvSpPr>
          <p:cNvPr id="9" name="Rounded Rectangle 8"/>
          <p:cNvSpPr/>
          <p:nvPr/>
        </p:nvSpPr>
        <p:spPr>
          <a:xfrm>
            <a:off x="7315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pm_volume_growth.png"/>
          <p:cNvPicPr>
            <a:picLocks noChangeAspect="1"/>
          </p:cNvPicPr>
          <p:nvPr/>
        </p:nvPicPr>
        <p:blipFill>
          <a:blip r:embed="rId3"/>
          <a:stretch>
            <a:fillRect/>
          </a:stretch>
        </p:blipFill>
        <p:spPr>
          <a:xfrm>
            <a:off x="822960" y="1691640"/>
            <a:ext cx="5486400" cy="2852928"/>
          </a:xfrm>
          <a:prstGeom prst="rect">
            <a:avLst/>
          </a:prstGeom>
        </p:spPr>
      </p:pic>
      <p:sp>
        <p:nvSpPr>
          <p:cNvPr id="11" name="Rounded Rectangle 10"/>
          <p:cNvSpPr/>
          <p:nvPr/>
        </p:nvSpPr>
        <p:spPr>
          <a:xfrm>
            <a:off x="6675120" y="1554480"/>
            <a:ext cx="475488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737360"/>
            <a:ext cx="4389120" cy="4114800"/>
          </a:xfrm>
          <a:prstGeom prst="rect">
            <a:avLst/>
          </a:prstGeom>
          <a:noFill/>
        </p:spPr>
        <p:txBody>
          <a:bodyPr wrap="square">
            <a:spAutoFit/>
          </a:bodyPr>
          <a:lstStyle/>
          <a:p>
            <a:pPr>
              <a:spcAft>
                <a:spcPts val="1000"/>
              </a:spcAft>
              <a:defRPr sz="1500" b="1">
                <a:solidFill>
                  <a:srgbClr val="FF5900"/>
                </a:solidFill>
              </a:defRPr>
            </a:pPr>
            <a:r>
              <a:t>From Fringe Experiment to Bloomberg Terminal</a:t>
            </a:r>
          </a:p>
          <a:p>
            <a:pPr>
              <a:spcAft>
                <a:spcPts val="800"/>
              </a:spcAft>
            </a:pPr>
            <a:r>
              <a:rPr b="1" sz="1100">
                <a:solidFill>
                  <a:srgbClr val="FF5900"/>
                </a:solidFill>
                <a:latin typeface="Segoe UI"/>
              </a:rPr>
              <a:t>• The 2024 Watershed Moment: </a:t>
            </a:r>
            <a:r>
              <a:rPr b="0" sz="1100">
                <a:solidFill>
                  <a:srgbClr val="F5EDE4"/>
                </a:solidFill>
                <a:latin typeface="Segoe UI"/>
              </a:rPr>
              <a:t>Prediction markets evolved from niche academic experiments into the definitive global gauge of political and macroeconomic probability.</a:t>
            </a:r>
          </a:p>
          <a:p>
            <a:pPr>
              <a:spcAft>
                <a:spcPts val="800"/>
              </a:spcAft>
            </a:pPr>
            <a:r>
              <a:rPr b="1" sz="1100">
                <a:solidFill>
                  <a:srgbClr val="FF5900"/>
                </a:solidFill>
                <a:latin typeface="Segoe UI"/>
              </a:rPr>
              <a:t>• Mainstream Financial Integration: </a:t>
            </a:r>
            <a:r>
              <a:rPr b="0" sz="1100">
                <a:solidFill>
                  <a:srgbClr val="F5EDE4"/>
                </a:solidFill>
                <a:latin typeface="Segoe UI"/>
              </a:rPr>
              <a:t>Polymarket and Kalshi odds were integrated live into Bloomberg Terminals, CNBC, Wall Street Journal, and CNN broadcast graphics.</a:t>
            </a:r>
          </a:p>
          <a:p>
            <a:pPr>
              <a:spcAft>
                <a:spcPts val="800"/>
              </a:spcAft>
            </a:pPr>
            <a:r>
              <a:rPr b="1" sz="1100">
                <a:solidFill>
                  <a:srgbClr val="FF5900"/>
                </a:solidFill>
                <a:latin typeface="Segoe UI"/>
              </a:rPr>
              <a:t>• The Presidential Showdown: </a:t>
            </a:r>
            <a:r>
              <a:rPr b="0" sz="1100">
                <a:solidFill>
                  <a:srgbClr val="F5EDE4"/>
                </a:solidFill>
                <a:latin typeface="Segoe UI"/>
              </a:rPr>
              <a:t>The single market 'Presidential Election Winner 2024' attracted over $3.6B in trading volume, surpassing the volume of many NYSE equities.</a:t>
            </a:r>
          </a:p>
          <a:p>
            <a:pPr>
              <a:spcAft>
                <a:spcPts val="800"/>
              </a:spcAft>
            </a:pPr>
            <a:r>
              <a:rPr b="1" sz="1100">
                <a:solidFill>
                  <a:srgbClr val="FF5900"/>
                </a:solidFill>
                <a:latin typeface="Segoe UI"/>
              </a:rPr>
              <a:t>• Institutional Trading Influx: </a:t>
            </a:r>
            <a:r>
              <a:rPr b="0" sz="1100">
                <a:solidFill>
                  <a:srgbClr val="F5EDE4"/>
                </a:solidFill>
                <a:latin typeface="Segoe UI"/>
              </a:rPr>
              <a:t>Quantitative proprietary trading shops and market makers (Susquehanna, Wintermute) entered to harvest spreads and funding yields.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CONTRACT SETTLEMENT ARCHITECTURE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Resolution Problem: How Prediction Markets Determine Truth</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11/22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The Fundamental Challenge of Event Settlement</a:t>
            </a:r>
          </a:p>
          <a:p>
            <a:pPr>
              <a:spcAft>
                <a:spcPts val="800"/>
              </a:spcAft>
            </a:pPr>
            <a:r>
              <a:rPr b="1" sz="1100">
                <a:solidFill>
                  <a:srgbClr val="DA4100"/>
                </a:solidFill>
                <a:latin typeface="Segoe UI"/>
              </a:rPr>
              <a:t>• The Oracle Problem Defined: </a:t>
            </a:r>
            <a:r>
              <a:rPr b="0" sz="1100">
                <a:solidFill>
                  <a:srgbClr val="21140E"/>
                </a:solidFill>
                <a:latin typeface="Segoe UI"/>
              </a:rPr>
              <a:t>Blockchains and electronic clearing engines are closed deterministic loops; they have no native awareness of real-world physical events. An external data feed ('oracle') must declare the state.</a:t>
            </a:r>
          </a:p>
          <a:p>
            <a:pPr>
              <a:spcAft>
                <a:spcPts val="800"/>
              </a:spcAft>
            </a:pPr>
            <a:r>
              <a:rPr b="1" sz="1100">
                <a:solidFill>
                  <a:srgbClr val="DA4100"/>
                </a:solidFill>
                <a:latin typeface="Segoe UI"/>
              </a:rPr>
              <a:t>• Semantic Ambiguity in Wording: </a:t>
            </a:r>
            <a:r>
              <a:rPr b="0" sz="1100">
                <a:solidFill>
                  <a:srgbClr val="21140E"/>
                </a:solidFill>
                <a:latin typeface="Segoe UI"/>
              </a:rPr>
              <a:t>Real-world events are messy. Poorly drafted contract rules lead to disputed edge-cases (e.g., 'Will Israel strike Iran by Friday?'—does an airspace drone interception count?).</a:t>
            </a:r>
          </a:p>
          <a:p>
            <a:pPr>
              <a:spcAft>
                <a:spcPts val="800"/>
              </a:spcAft>
            </a:pPr>
            <a:r>
              <a:rPr b="1" sz="1100">
                <a:solidFill>
                  <a:srgbClr val="DA4100"/>
                </a:solidFill>
                <a:latin typeface="Segoe UI"/>
              </a:rPr>
              <a:t>• Malicious Proposer Attacks: </a:t>
            </a:r>
            <a:r>
              <a:rPr b="0" sz="1100">
                <a:solidFill>
                  <a:srgbClr val="21140E"/>
                </a:solidFill>
                <a:latin typeface="Segoe UI"/>
              </a:rPr>
              <a:t>An adversary can purchase a large position and bribe or trick the oracle mechanism into an erroneous settlement.</a:t>
            </a:r>
          </a:p>
          <a:p>
            <a:pPr>
              <a:spcAft>
                <a:spcPts val="800"/>
              </a:spcAft>
            </a:pPr>
            <a:r>
              <a:rPr b="1" sz="1100">
                <a:solidFill>
                  <a:srgbClr val="DA4100"/>
                </a:solidFill>
                <a:latin typeface="Segoe UI"/>
              </a:rPr>
              <a:t>• The Dual Philosophical Paths: </a:t>
            </a:r>
            <a:r>
              <a:rPr b="0" sz="1100">
                <a:solidFill>
                  <a:srgbClr val="21140E"/>
                </a:solidFill>
                <a:latin typeface="Segoe UI"/>
              </a:rPr>
              <a:t>Kalshi solves this via centralized legal arbitration, while Polymarket relies on game-theoretic decentralized voting (UMA).</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Failure Modes &amp; Edge-Case Case Studies</a:t>
            </a:r>
          </a:p>
          <a:p>
            <a:pPr>
              <a:spcAft>
                <a:spcPts val="800"/>
              </a:spcAft>
            </a:pPr>
            <a:r>
              <a:rPr b="1" sz="1100">
                <a:solidFill>
                  <a:srgbClr val="FF5900"/>
                </a:solidFill>
                <a:latin typeface="Segoe UI"/>
              </a:rPr>
              <a:t>• The 'SEC ETF Approval' Dispute (Jan 2024): </a:t>
            </a:r>
            <a:r>
              <a:rPr b="0" sz="1100">
                <a:solidFill>
                  <a:srgbClr val="F5EDE4"/>
                </a:solidFill>
                <a:latin typeface="Segoe UI"/>
              </a:rPr>
              <a:t>When the SEC's X account was hacked announcing Bitcoin ETF approval hours before the official filing, prediction markets faced mass disputes over settlement timestamps.</a:t>
            </a:r>
          </a:p>
          <a:p>
            <a:pPr>
              <a:spcAft>
                <a:spcPts val="800"/>
              </a:spcAft>
            </a:pPr>
            <a:r>
              <a:rPr b="1" sz="1100">
                <a:solidFill>
                  <a:srgbClr val="FF5900"/>
                </a:solidFill>
                <a:latin typeface="Segoe UI"/>
              </a:rPr>
              <a:t>• Candidate Name Withdrawals: </a:t>
            </a:r>
            <a:r>
              <a:rPr b="0" sz="1100">
                <a:solidFill>
                  <a:srgbClr val="F5EDE4"/>
                </a:solidFill>
                <a:latin typeface="Segoe UI"/>
              </a:rPr>
              <a:t>Debates over whether Joe Biden dropping out in July 2024 resolved 'nomination' contracts immediately or required official DNC roll-call votes.</a:t>
            </a:r>
          </a:p>
          <a:p>
            <a:pPr>
              <a:spcAft>
                <a:spcPts val="800"/>
              </a:spcAft>
            </a:pPr>
            <a:r>
              <a:rPr b="1" sz="1100">
                <a:solidFill>
                  <a:srgbClr val="FF5900"/>
                </a:solidFill>
                <a:latin typeface="Segoe UI"/>
              </a:rPr>
              <a:t>• Rulebook Specificity as Defense: </a:t>
            </a:r>
            <a:r>
              <a:rPr b="0" sz="1100">
                <a:solidFill>
                  <a:srgbClr val="F5EDE4"/>
                </a:solidFill>
                <a:latin typeface="Segoe UI"/>
              </a:rPr>
              <a:t>Exchanges learned that legal precision in market contracts is as critical as financial solvency.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CENTRALIZED SETTLEMENT</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Kalshi's Resolution Mechanism: Rulebooks &amp; Official Data Sources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12/22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Contractual Rulebooks</a:t>
            </a:r>
          </a:p>
          <a:p>
            <a:pPr>
              <a:spcAft>
                <a:spcPts val="700"/>
              </a:spcAft>
            </a:pPr>
            <a:r>
              <a:rPr b="1" sz="1050">
                <a:solidFill>
                  <a:srgbClr val="DA4100"/>
                </a:solidFill>
                <a:latin typeface="Segoe UI"/>
              </a:rPr>
              <a:t>• CFTC Regulatory Filings: </a:t>
            </a:r>
            <a:r>
              <a:rPr b="0" sz="1050">
                <a:solidFill>
                  <a:srgbClr val="21140E"/>
                </a:solidFill>
                <a:latin typeface="Segoe UI"/>
              </a:rPr>
              <a:t>Every contract lists an exhaustive Rulebook publicly filed with the CFTC detailing exact definitions and edge-case procedures.</a:t>
            </a:r>
          </a:p>
          <a:p>
            <a:pPr>
              <a:spcAft>
                <a:spcPts val="700"/>
              </a:spcAft>
            </a:pPr>
            <a:r>
              <a:rPr b="1" sz="1050">
                <a:solidFill>
                  <a:srgbClr val="DA4100"/>
                </a:solidFill>
                <a:latin typeface="Segoe UI"/>
              </a:rPr>
              <a:t>• Deterministic Resolution Criteria: </a:t>
            </a:r>
            <a:r>
              <a:rPr b="0" sz="1050">
                <a:solidFill>
                  <a:srgbClr val="21140E"/>
                </a:solidFill>
                <a:latin typeface="Segoe UI"/>
              </a:rPr>
              <a:t>Strictly avoids subjective human interpretations. Clear binary conditions established prior to market launch.</a:t>
            </a:r>
          </a:p>
          <a:p>
            <a:pPr>
              <a:spcAft>
                <a:spcPts val="700"/>
              </a:spcAft>
            </a:pPr>
            <a:r>
              <a:rPr b="1" sz="1050">
                <a:solidFill>
                  <a:srgbClr val="DA4100"/>
                </a:solidFill>
                <a:latin typeface="Segoe UI"/>
              </a:rPr>
              <a:t>• Expiration Timestamp: </a:t>
            </a:r>
            <a:r>
              <a:rPr b="0" sz="1050">
                <a:solidFill>
                  <a:srgbClr val="21140E"/>
                </a:solidFill>
                <a:latin typeface="Segoe UI"/>
              </a:rPr>
              <a:t>Exact second-level cutoff timestamps for all event occurrences.</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Sovereign Source Feeds</a:t>
            </a:r>
          </a:p>
          <a:p>
            <a:pPr>
              <a:spcAft>
                <a:spcPts val="700"/>
              </a:spcAft>
            </a:pPr>
            <a:r>
              <a:rPr b="1" sz="1050">
                <a:solidFill>
                  <a:srgbClr val="FF5900"/>
                </a:solidFill>
                <a:latin typeface="Segoe UI"/>
              </a:rPr>
              <a:t>• Macroeconomic Data: </a:t>
            </a:r>
            <a:r>
              <a:rPr b="0" sz="1050">
                <a:solidFill>
                  <a:srgbClr val="F5EDE4"/>
                </a:solidFill>
                <a:latin typeface="Segoe UI"/>
              </a:rPr>
              <a:t>Resolves exclusively from primary releases: Bureau of Labor Statistics (CPI/NFP), Federal Reserve, and BEA.</a:t>
            </a:r>
          </a:p>
          <a:p>
            <a:pPr>
              <a:spcAft>
                <a:spcPts val="700"/>
              </a:spcAft>
            </a:pPr>
            <a:r>
              <a:rPr b="1" sz="1050">
                <a:solidFill>
                  <a:srgbClr val="FF5900"/>
                </a:solidFill>
                <a:latin typeface="Segoe UI"/>
              </a:rPr>
              <a:t>• Weather &amp; Climate: </a:t>
            </a:r>
            <a:r>
              <a:rPr b="0" sz="1050">
                <a:solidFill>
                  <a:srgbClr val="F5EDE4"/>
                </a:solidFill>
                <a:latin typeface="Segoe UI"/>
              </a:rPr>
              <a:t>National Oceanic and Atmospheric Administration (NOAA) and National Weather Service.</a:t>
            </a:r>
          </a:p>
          <a:p>
            <a:pPr>
              <a:spcAft>
                <a:spcPts val="700"/>
              </a:spcAft>
            </a:pPr>
            <a:r>
              <a:rPr b="1" sz="1050">
                <a:solidFill>
                  <a:srgbClr val="FF5900"/>
                </a:solidFill>
                <a:latin typeface="Segoe UI"/>
              </a:rPr>
              <a:t>• Elections &amp; Politics: </a:t>
            </a:r>
            <a:r>
              <a:rPr b="0" sz="1050">
                <a:solidFill>
                  <a:srgbClr val="F5EDE4"/>
                </a:solidFill>
                <a:latin typeface="Segoe UI"/>
              </a:rPr>
              <a:t>Associated Press (AP), Edison Research, and official State Secretaries of State election certifications.</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Centralized Arbitration</a:t>
            </a:r>
          </a:p>
          <a:p>
            <a:pPr>
              <a:spcAft>
                <a:spcPts val="700"/>
              </a:spcAft>
            </a:pPr>
            <a:r>
              <a:rPr b="1" sz="1050">
                <a:solidFill>
                  <a:srgbClr val="3D2314"/>
                </a:solidFill>
                <a:latin typeface="Segoe UI"/>
              </a:rPr>
              <a:t>• Kalshi Settlement Committee: </a:t>
            </a:r>
            <a:r>
              <a:rPr b="0" sz="1050">
                <a:solidFill>
                  <a:srgbClr val="21140E"/>
                </a:solidFill>
                <a:latin typeface="Segoe UI"/>
              </a:rPr>
              <a:t>In-house legal and compliance committee reviews source data and executes settlements.</a:t>
            </a:r>
          </a:p>
          <a:p>
            <a:pPr>
              <a:spcAft>
                <a:spcPts val="700"/>
              </a:spcAft>
            </a:pPr>
            <a:r>
              <a:rPr b="1" sz="1050">
                <a:solidFill>
                  <a:srgbClr val="3D2314"/>
                </a:solidFill>
                <a:latin typeface="Segoe UI"/>
              </a:rPr>
              <a:t>• Zero Blockchain Latency: </a:t>
            </a:r>
            <a:r>
              <a:rPr b="0" sz="1050">
                <a:solidFill>
                  <a:srgbClr val="21140E"/>
                </a:solidFill>
                <a:latin typeface="Segoe UI"/>
              </a:rPr>
              <a:t>Settlement occurs within minutes of official government data publication.</a:t>
            </a:r>
          </a:p>
          <a:p>
            <a:pPr>
              <a:spcAft>
                <a:spcPts val="700"/>
              </a:spcAft>
            </a:pPr>
            <a:r>
              <a:rPr b="1" sz="1050">
                <a:solidFill>
                  <a:srgbClr val="3D2314"/>
                </a:solidFill>
                <a:latin typeface="Segoe UI"/>
              </a:rPr>
              <a:t>• Legal Recourse: </a:t>
            </a:r>
            <a:r>
              <a:rPr b="0" sz="1050">
                <a:solidFill>
                  <a:srgbClr val="21140E"/>
                </a:solidFill>
                <a:latin typeface="Segoe UI"/>
              </a:rPr>
              <a:t>Users possess legal standing under US contract law and CFTC ombudsman arbitration if terms are breached.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DECENTRALIZED SETTLEMENT</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Polymarket's Engine: The UMA Optimistic Oracle &amp; Dispute Resolution</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13/22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How the UMA Optimistic Oracle Works</a:t>
            </a:r>
          </a:p>
          <a:p>
            <a:pPr>
              <a:spcAft>
                <a:spcPts val="800"/>
              </a:spcAft>
            </a:pPr>
            <a:r>
              <a:rPr b="1" sz="1100">
                <a:solidFill>
                  <a:srgbClr val="DA4100"/>
                </a:solidFill>
                <a:latin typeface="Segoe UI"/>
              </a:rPr>
              <a:t>• Step 1: Market Expiration &amp; Assertion: </a:t>
            </a:r>
            <a:r>
              <a:rPr b="0" sz="1100">
                <a:solidFill>
                  <a:srgbClr val="21140E"/>
                </a:solidFill>
                <a:latin typeface="Segoe UI"/>
              </a:rPr>
              <a:t>When an event concludes, anyone can assert the outcome (YES/NO) by posting a mandatory financial bond in UMA/USDC tokens.</a:t>
            </a:r>
          </a:p>
          <a:p>
            <a:pPr>
              <a:spcAft>
                <a:spcPts val="800"/>
              </a:spcAft>
            </a:pPr>
            <a:r>
              <a:rPr b="1" sz="1100">
                <a:solidFill>
                  <a:srgbClr val="DA4100"/>
                </a:solidFill>
                <a:latin typeface="Segoe UI"/>
              </a:rPr>
              <a:t>• Step 2: The Challenge Window (Liveness Period): </a:t>
            </a:r>
            <a:r>
              <a:rPr b="0" sz="1100">
                <a:solidFill>
                  <a:srgbClr val="21140E"/>
                </a:solidFill>
                <a:latin typeface="Segoe UI"/>
              </a:rPr>
              <a:t>A 2-hour window opens. If no one disputes the assertion within 2 hours, the outcome is assumed 'optimistically' correct, settlement finalizes, and the proposer recovers their bond + reward.</a:t>
            </a:r>
          </a:p>
          <a:p>
            <a:pPr>
              <a:spcAft>
                <a:spcPts val="800"/>
              </a:spcAft>
            </a:pPr>
            <a:r>
              <a:rPr b="1" sz="1100">
                <a:solidFill>
                  <a:srgbClr val="DA4100"/>
                </a:solidFill>
                <a:latin typeface="Segoe UI"/>
              </a:rPr>
              <a:t>• Step 3: Dispute &amp; Counter-Bond: </a:t>
            </a:r>
            <a:r>
              <a:rPr b="0" sz="1100">
                <a:solidFill>
                  <a:srgbClr val="21140E"/>
                </a:solidFill>
                <a:latin typeface="Segoe UI"/>
              </a:rPr>
              <a:t>If a trader believes the proposed settlement is false, they must post an equal dispute bond to challenge it.</a:t>
            </a:r>
          </a:p>
          <a:p>
            <a:pPr>
              <a:spcAft>
                <a:spcPts val="800"/>
              </a:spcAft>
            </a:pPr>
            <a:r>
              <a:rPr b="1" sz="1100">
                <a:solidFill>
                  <a:srgbClr val="DA4100"/>
                </a:solidFill>
                <a:latin typeface="Segoe UI"/>
              </a:rPr>
              <a:t>• Step 4: Token-Holder Voting (DVM): </a:t>
            </a:r>
            <a:r>
              <a:rPr b="0" sz="1100">
                <a:solidFill>
                  <a:srgbClr val="21140E"/>
                </a:solidFill>
                <a:latin typeface="Segoe UI"/>
              </a:rPr>
              <a:t>Disputed contracts escalate to UMA's Data Verification Mechanism (DVM), where UMA token holders vote on the true outcome via Schelling point consensus.</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Game Theory, Bond-Slashing &amp; Vulnerabilities</a:t>
            </a:r>
          </a:p>
          <a:p>
            <a:pPr>
              <a:spcAft>
                <a:spcPts val="800"/>
              </a:spcAft>
            </a:pPr>
            <a:r>
              <a:rPr b="1" sz="1100">
                <a:solidFill>
                  <a:srgbClr val="FF5900"/>
                </a:solidFill>
                <a:latin typeface="Segoe UI"/>
              </a:rPr>
              <a:t>1. Slashing Economics: </a:t>
            </a:r>
            <a:r>
              <a:rPr b="0" sz="1100">
                <a:solidFill>
                  <a:srgbClr val="F5EDE4"/>
                </a:solidFill>
                <a:latin typeface="Segoe UI"/>
              </a:rPr>
              <a:t>Whichever party loses the dispute loses 100% of their bond, which is awarded to the correct party. Economic self-interest aligns truth-telling.</a:t>
            </a:r>
          </a:p>
          <a:p>
            <a:pPr>
              <a:spcAft>
                <a:spcPts val="800"/>
              </a:spcAft>
            </a:pPr>
            <a:r>
              <a:rPr b="1" sz="1100">
                <a:solidFill>
                  <a:srgbClr val="FF5900"/>
                </a:solidFill>
                <a:latin typeface="Segoe UI"/>
              </a:rPr>
              <a:t>2. Schelling Point Consensus: </a:t>
            </a:r>
            <a:r>
              <a:rPr b="0" sz="1100">
                <a:solidFill>
                  <a:srgbClr val="F5EDE4"/>
                </a:solidFill>
                <a:latin typeface="Segoe UI"/>
              </a:rPr>
              <a:t>Voters are rewarded for voting with the majority; truth becomes the focal coordination point (Schelling, 1960).</a:t>
            </a:r>
          </a:p>
          <a:p>
            <a:pPr>
              <a:spcAft>
                <a:spcPts val="800"/>
              </a:spcAft>
            </a:pPr>
            <a:r>
              <a:rPr b="1" sz="1100">
                <a:solidFill>
                  <a:srgbClr val="FF5900"/>
                </a:solidFill>
                <a:latin typeface="Segoe UI"/>
              </a:rPr>
              <a:t>3. Settlement Delay: </a:t>
            </a:r>
            <a:r>
              <a:rPr b="0" sz="1100">
                <a:solidFill>
                  <a:srgbClr val="F5EDE4"/>
                </a:solidFill>
                <a:latin typeface="Segoe UI"/>
              </a:rPr>
              <a:t>Disputes can stall payouts for 48 to 72 hours, locking up trader capital during contentious elections.</a:t>
            </a:r>
          </a:p>
          <a:p>
            <a:pPr>
              <a:spcAft>
                <a:spcPts val="800"/>
              </a:spcAft>
            </a:pPr>
            <a:r>
              <a:rPr b="1" sz="1100">
                <a:solidFill>
                  <a:srgbClr val="FF5900"/>
                </a:solidFill>
                <a:latin typeface="Segoe UI"/>
              </a:rPr>
              <a:t>4. Governance Voter Apathy: </a:t>
            </a:r>
            <a:r>
              <a:rPr b="0" sz="1100">
                <a:solidFill>
                  <a:srgbClr val="F5EDE4"/>
                </a:solidFill>
                <a:latin typeface="Segoe UI"/>
              </a:rPr>
              <a:t>Low turnout among UMA token holders can leave edge-case disputes vulnerable to coordinated whale voter manipulation.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STATISTICAL VALIDATION</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Empirical Forecasting Accuracy: Prediction Markets vs. Polls &amp; Pundits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14/22</a:t>
            </a:r>
          </a:p>
        </p:txBody>
      </p:sp>
      <p:sp>
        <p:nvSpPr>
          <p:cNvPr id="9" name="Rounded Rectangle 8"/>
          <p:cNvSpPr/>
          <p:nvPr/>
        </p:nvSpPr>
        <p:spPr>
          <a:xfrm>
            <a:off x="7315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accuracy_comparison.png"/>
          <p:cNvPicPr>
            <a:picLocks noChangeAspect="1"/>
          </p:cNvPicPr>
          <p:nvPr/>
        </p:nvPicPr>
        <p:blipFill>
          <a:blip r:embed="rId3"/>
          <a:stretch>
            <a:fillRect/>
          </a:stretch>
        </p:blipFill>
        <p:spPr>
          <a:xfrm>
            <a:off x="822960" y="1691640"/>
            <a:ext cx="5486400" cy="2852928"/>
          </a:xfrm>
          <a:prstGeom prst="rect">
            <a:avLst/>
          </a:prstGeom>
        </p:spPr>
      </p:pic>
      <p:sp>
        <p:nvSpPr>
          <p:cNvPr id="11" name="Rounded Rectangle 10"/>
          <p:cNvSpPr/>
          <p:nvPr/>
        </p:nvSpPr>
        <p:spPr>
          <a:xfrm>
            <a:off x="6675120" y="1554480"/>
            <a:ext cx="475488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737360"/>
            <a:ext cx="4389120" cy="4114800"/>
          </a:xfrm>
          <a:prstGeom prst="rect">
            <a:avLst/>
          </a:prstGeom>
          <a:noFill/>
        </p:spPr>
        <p:txBody>
          <a:bodyPr wrap="square">
            <a:spAutoFit/>
          </a:bodyPr>
          <a:lstStyle/>
          <a:p>
            <a:pPr>
              <a:spcAft>
                <a:spcPts val="1000"/>
              </a:spcAft>
              <a:defRPr sz="1500" b="1">
                <a:solidFill>
                  <a:srgbClr val="FF5900"/>
                </a:solidFill>
              </a:defRPr>
            </a:pPr>
            <a:r>
              <a:t>Why Financial Markets Outperform Surveys</a:t>
            </a:r>
          </a:p>
          <a:p>
            <a:pPr>
              <a:spcAft>
                <a:spcPts val="800"/>
              </a:spcAft>
            </a:pPr>
            <a:r>
              <a:rPr b="1" sz="1100">
                <a:solidFill>
                  <a:srgbClr val="FF5900"/>
                </a:solidFill>
                <a:latin typeface="Segoe UI"/>
              </a:rPr>
              <a:t>• Superior Brier Score Performance: </a:t>
            </a:r>
            <a:r>
              <a:rPr b="0" sz="1100">
                <a:solidFill>
                  <a:srgbClr val="F5EDE4"/>
                </a:solidFill>
                <a:latin typeface="Segoe UI"/>
              </a:rPr>
              <a:t>Academic literature (Berg, Nelson &amp; Rietz, 2008; Rothschild, 2009) proves prediction markets consistently achieve lower Brier error scores than national opinion polls.</a:t>
            </a:r>
          </a:p>
          <a:p>
            <a:pPr>
              <a:spcAft>
                <a:spcPts val="800"/>
              </a:spcAft>
            </a:pPr>
            <a:r>
              <a:rPr b="1" sz="1100">
                <a:solidFill>
                  <a:srgbClr val="FF5900"/>
                </a:solidFill>
                <a:latin typeface="Segoe UI"/>
              </a:rPr>
              <a:t>• Polls are Historical, Markets are Forward-Looking: </a:t>
            </a:r>
            <a:r>
              <a:rPr b="0" sz="1100">
                <a:solidFill>
                  <a:srgbClr val="F5EDE4"/>
                </a:solidFill>
                <a:latin typeface="Segoe UI"/>
              </a:rPr>
              <a:t>Polls reflect what a sampled demographic thought 4 days ago. Markets reflect what traders expect will happen on election day.</a:t>
            </a:r>
          </a:p>
          <a:p>
            <a:pPr>
              <a:spcAft>
                <a:spcPts val="800"/>
              </a:spcAft>
            </a:pPr>
            <a:r>
              <a:rPr b="1" sz="1100">
                <a:solidFill>
                  <a:srgbClr val="FF5900"/>
                </a:solidFill>
                <a:latin typeface="Segoe UI"/>
              </a:rPr>
              <a:t>• Self-Correcting for Non-Response Bias: </a:t>
            </a:r>
            <a:r>
              <a:rPr b="0" sz="1100">
                <a:solidFill>
                  <a:srgbClr val="F5EDE4"/>
                </a:solidFill>
                <a:latin typeface="Segoe UI"/>
              </a:rPr>
              <a:t>Traditional polling suffers from plummeting telephone response rates (&lt;1%). Prediction markets incorporate non-response bias corrections automatically via informed capital.</a:t>
            </a:r>
          </a:p>
          <a:p>
            <a:pPr>
              <a:spcAft>
                <a:spcPts val="800"/>
              </a:spcAft>
            </a:pPr>
            <a:r>
              <a:rPr b="1" sz="1100">
                <a:solidFill>
                  <a:srgbClr val="FF5900"/>
                </a:solidFill>
                <a:latin typeface="Segoe UI"/>
              </a:rPr>
              <a:t>• The 2024 Proof of Concept: </a:t>
            </a:r>
            <a:r>
              <a:rPr b="0" sz="1100">
                <a:solidFill>
                  <a:srgbClr val="F5EDE4"/>
                </a:solidFill>
                <a:latin typeface="Segoe UI"/>
              </a:rPr>
              <a:t>In the 2024 presidential election, Polymarket and Kalshi signaled Donald Trump's decisive electoral sweep weeks ahead of deadlocked 50/50 polling aggregates.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BEHAVIORAL ECONOMICS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Behavioral Biases &amp; Imperfections: Longshot Biases and Whales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15/22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Well-Documented Market Anomaly Patterns</a:t>
            </a:r>
          </a:p>
          <a:p>
            <a:pPr>
              <a:spcAft>
                <a:spcPts val="800"/>
              </a:spcAft>
            </a:pPr>
            <a:r>
              <a:rPr b="1" sz="1100">
                <a:solidFill>
                  <a:srgbClr val="DA4100"/>
                </a:solidFill>
                <a:latin typeface="Segoe UI"/>
              </a:rPr>
              <a:t>• Favorite-Longshot Bias: </a:t>
            </a:r>
            <a:r>
              <a:rPr b="0" sz="1100">
                <a:solidFill>
                  <a:srgbClr val="21140E"/>
                </a:solidFill>
                <a:latin typeface="Segoe UI"/>
              </a:rPr>
              <a:t>Traders systematically overvalue extreme low-probability outcomes (e.g., pricing 1% events at 5%-8%) due to lottery-like payoff psychology.</a:t>
            </a:r>
          </a:p>
          <a:p>
            <a:pPr>
              <a:spcAft>
                <a:spcPts val="800"/>
              </a:spcAft>
            </a:pPr>
            <a:r>
              <a:rPr b="1" sz="1100">
                <a:solidFill>
                  <a:srgbClr val="DA4100"/>
                </a:solidFill>
                <a:latin typeface="Segoe UI"/>
              </a:rPr>
              <a:t>• Ideological &amp; Partisan Skew: </a:t>
            </a:r>
            <a:r>
              <a:rPr b="0" sz="1100">
                <a:solidFill>
                  <a:srgbClr val="21140E"/>
                </a:solidFill>
                <a:latin typeface="Segoe UI"/>
              </a:rPr>
              <a:t>In political markets, participants often 'bet with their hearts' rather than their heads, temporarily bidding up favored candidates.</a:t>
            </a:r>
          </a:p>
          <a:p>
            <a:pPr>
              <a:spcAft>
                <a:spcPts val="800"/>
              </a:spcAft>
            </a:pPr>
            <a:r>
              <a:rPr b="1" sz="1100">
                <a:solidFill>
                  <a:srgbClr val="DA4100"/>
                </a:solidFill>
                <a:latin typeface="Segoe UI"/>
              </a:rPr>
              <a:t>• Liquidity Droughts in the Tail: </a:t>
            </a:r>
            <a:r>
              <a:rPr b="0" sz="1100">
                <a:solidFill>
                  <a:srgbClr val="21140E"/>
                </a:solidFill>
                <a:latin typeface="Segoe UI"/>
              </a:rPr>
              <a:t>While headline election markets trade billions, long-tail markets (local mayoral races, specialized scientific discoveries) suffer wide bid-ask spreads.</a:t>
            </a:r>
          </a:p>
          <a:p>
            <a:pPr>
              <a:spcAft>
                <a:spcPts val="800"/>
              </a:spcAft>
            </a:pPr>
            <a:r>
              <a:rPr b="1" sz="1100">
                <a:solidFill>
                  <a:srgbClr val="DA4100"/>
                </a:solidFill>
                <a:latin typeface="Segoe UI"/>
              </a:rPr>
              <a:t>• Opportunity Cost &amp; Capital Lockup: </a:t>
            </a:r>
            <a:r>
              <a:rPr b="0" sz="1100">
                <a:solidFill>
                  <a:srgbClr val="21140E"/>
                </a:solidFill>
                <a:latin typeface="Segoe UI"/>
              </a:rPr>
              <a:t>Holding long-horizon contracts (e.g., 2028 election) ties up capital that could earn 5% risk-free yield in US Treasuries, depressing far-dated probabilities.</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The 'Fredi9999' French Whale Case Study</a:t>
            </a:r>
          </a:p>
          <a:p>
            <a:pPr>
              <a:spcAft>
                <a:spcPts val="800"/>
              </a:spcAft>
            </a:pPr>
            <a:r>
              <a:rPr b="1" sz="1100">
                <a:solidFill>
                  <a:srgbClr val="FF5900"/>
                </a:solidFill>
                <a:latin typeface="Segoe UI"/>
              </a:rPr>
              <a:t>• $30M+ Concentrated Bet: </a:t>
            </a:r>
            <a:r>
              <a:rPr b="0" sz="1100">
                <a:solidFill>
                  <a:srgbClr val="F5EDE4"/>
                </a:solidFill>
                <a:latin typeface="Segoe UI"/>
              </a:rPr>
              <a:t>In October 2024, a single French national operating four accounts ('Fredi9999', 'Theo4') amassed over $30M in Trump victory contracts.</a:t>
            </a:r>
          </a:p>
          <a:p>
            <a:pPr>
              <a:spcAft>
                <a:spcPts val="800"/>
              </a:spcAft>
            </a:pPr>
            <a:r>
              <a:rPr b="1" sz="1100">
                <a:solidFill>
                  <a:srgbClr val="FF5900"/>
                </a:solidFill>
                <a:latin typeface="Segoe UI"/>
              </a:rPr>
              <a:t>• Manipulation or Informed Alpha?: </a:t>
            </a:r>
            <a:r>
              <a:rPr b="0" sz="1100">
                <a:solidFill>
                  <a:srgbClr val="F5EDE4"/>
                </a:solidFill>
                <a:latin typeface="Segoe UI"/>
              </a:rPr>
              <a:t>Critics cried market manipulation to alter polling perceptions. However, the trader deployed sophisticated 'neighbor polling' statistical models identifying unmeasured enthusiasm.</a:t>
            </a:r>
          </a:p>
          <a:p>
            <a:pPr>
              <a:spcAft>
                <a:spcPts val="800"/>
              </a:spcAft>
            </a:pPr>
            <a:r>
              <a:rPr b="1" sz="1100">
                <a:solidFill>
                  <a:srgbClr val="FF5900"/>
                </a:solidFill>
                <a:latin typeface="Segoe UI"/>
              </a:rPr>
              <a:t>• The $47 Million Windfall: </a:t>
            </a:r>
            <a:r>
              <a:rPr b="0" sz="1100">
                <a:solidFill>
                  <a:srgbClr val="F5EDE4"/>
                </a:solidFill>
                <a:latin typeface="Segoe UI"/>
              </a:rPr>
              <a:t>When Trump won, the position paid out ~$78M (a net profit exceeding $47M), demonstrating how high-conviction informed capital moves markets toward ultimate truth.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MARKET MICROSTRUCTURE THEORY</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Can Prediction Markets Be Rigged? Manipulation-as-Subsidy</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16/22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The Mechanics of Attempted Market Manipulation</a:t>
            </a:r>
          </a:p>
          <a:p>
            <a:pPr>
              <a:spcAft>
                <a:spcPts val="800"/>
              </a:spcAft>
            </a:pPr>
            <a:r>
              <a:rPr b="1" sz="1100">
                <a:solidFill>
                  <a:srgbClr val="DA4100"/>
                </a:solidFill>
                <a:latin typeface="Segoe UI"/>
              </a:rPr>
              <a:t>• Why Manipulate?: </a:t>
            </a:r>
            <a:r>
              <a:rPr b="0" sz="1100">
                <a:solidFill>
                  <a:srgbClr val="21140E"/>
                </a:solidFill>
                <a:latin typeface="Segoe UI"/>
              </a:rPr>
              <a:t>An actor might attempt to temporarily inflate a candidate's odds to create media momentum, improve donor fundraising, or influence voter turnout expectations.</a:t>
            </a:r>
          </a:p>
          <a:p>
            <a:pPr>
              <a:spcAft>
                <a:spcPts val="800"/>
              </a:spcAft>
            </a:pPr>
            <a:r>
              <a:rPr b="1" sz="1100">
                <a:solidFill>
                  <a:srgbClr val="DA4100"/>
                </a:solidFill>
                <a:latin typeface="Segoe UI"/>
              </a:rPr>
              <a:t>• The High Cost of Capital: </a:t>
            </a:r>
            <a:r>
              <a:rPr b="0" sz="1100">
                <a:solidFill>
                  <a:srgbClr val="21140E"/>
                </a:solidFill>
                <a:latin typeface="Segoe UI"/>
              </a:rPr>
              <a:t>Because contracts settle to definitive empirical reality ($1.00 or $0.00), artificially holding an untrue contract above fair value requires continuously buying all resting sell orders.</a:t>
            </a:r>
          </a:p>
          <a:p>
            <a:pPr>
              <a:spcAft>
                <a:spcPts val="800"/>
              </a:spcAft>
            </a:pPr>
            <a:r>
              <a:rPr b="1" sz="1100">
                <a:solidFill>
                  <a:srgbClr val="DA4100"/>
                </a:solidFill>
                <a:latin typeface="Segoe UI"/>
              </a:rPr>
              <a:t>• Infinite Counterparty Liquidity: </a:t>
            </a:r>
            <a:r>
              <a:rPr b="0" sz="1100">
                <a:solidFill>
                  <a:srgbClr val="21140E"/>
                </a:solidFill>
                <a:latin typeface="Segoe UI"/>
              </a:rPr>
              <a:t>Unlike equities where share float is limited, prediction markets can mint infinite new YES/NO pairs as long as arbitrageurs post $1.00 cash.</a:t>
            </a:r>
          </a:p>
          <a:p>
            <a:pPr>
              <a:spcAft>
                <a:spcPts val="800"/>
              </a:spcAft>
            </a:pPr>
            <a:r>
              <a:rPr b="1" sz="1100">
                <a:solidFill>
                  <a:srgbClr val="DA4100"/>
                </a:solidFill>
                <a:latin typeface="Segoe UI"/>
              </a:rPr>
              <a:t>• Empirical Evidence: </a:t>
            </a:r>
            <a:r>
              <a:rPr b="0" sz="1100">
                <a:solidFill>
                  <a:srgbClr val="21140E"/>
                </a:solidFill>
                <a:latin typeface="Segoe UI"/>
              </a:rPr>
              <a:t>Rhodes &amp; Strumpf (2004) tested intentional manipulation on TradeSports; prices reverted to true odds almost immediately.</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Hanson's 'Manipulation-as-Subsidy' Theorem</a:t>
            </a:r>
          </a:p>
          <a:p>
            <a:pPr>
              <a:spcAft>
                <a:spcPts val="800"/>
              </a:spcAft>
            </a:pPr>
            <a:r>
              <a:rPr b="1" sz="1100">
                <a:solidFill>
                  <a:srgbClr val="FF5900"/>
                </a:solidFill>
                <a:latin typeface="Segoe UI"/>
              </a:rPr>
              <a:t>• Robin Hanson's Classic Finding: </a:t>
            </a:r>
            <a:r>
              <a:rPr b="0" sz="1100">
                <a:solidFill>
                  <a:srgbClr val="F5EDE4"/>
                </a:solidFill>
                <a:latin typeface="Segoe UI"/>
              </a:rPr>
              <a:t>Manipulators who enter prediction markets with ideological rather than profit-seeking motives effectively **subsidize** information collection.</a:t>
            </a:r>
          </a:p>
          <a:p>
            <a:pPr>
              <a:spcAft>
                <a:spcPts val="800"/>
              </a:spcAft>
            </a:pPr>
            <a:r>
              <a:rPr b="1" sz="1100">
                <a:solidFill>
                  <a:srgbClr val="FF5900"/>
                </a:solidFill>
                <a:latin typeface="Segoe UI"/>
              </a:rPr>
              <a:t>• The Honey-Pot Effect: </a:t>
            </a:r>
            <a:r>
              <a:rPr b="0" sz="1100">
                <a:solidFill>
                  <a:srgbClr val="F5EDE4"/>
                </a:solidFill>
                <a:latin typeface="Segoe UI"/>
              </a:rPr>
              <a:t>By artificially pushing prices away from fundamental probabilities, manipulators create free expected value (EV) for smart money arbitrageurs.</a:t>
            </a:r>
          </a:p>
          <a:p>
            <a:pPr>
              <a:spcAft>
                <a:spcPts val="800"/>
              </a:spcAft>
            </a:pPr>
            <a:r>
              <a:rPr b="1" sz="1100">
                <a:solidFill>
                  <a:srgbClr val="FF5900"/>
                </a:solidFill>
                <a:latin typeface="Segoe UI"/>
              </a:rPr>
              <a:t>• Attracting Sharps: </a:t>
            </a:r>
            <a:r>
              <a:rPr b="0" sz="1100">
                <a:solidFill>
                  <a:srgbClr val="F5EDE4"/>
                </a:solidFill>
                <a:latin typeface="Segoe UI"/>
              </a:rPr>
              <a:t>Institutional algorithmic market makers aggressively step in to absorb the manipulator's mispriced capital, driving the price right back to true probability.</a:t>
            </a:r>
          </a:p>
          <a:p>
            <a:pPr>
              <a:spcAft>
                <a:spcPts val="800"/>
              </a:spcAft>
            </a:pPr>
            <a:r>
              <a:rPr b="1" sz="1100">
                <a:solidFill>
                  <a:srgbClr val="FF5900"/>
                </a:solidFill>
                <a:latin typeface="Segoe UI"/>
              </a:rPr>
              <a:t>• Conclusion: </a:t>
            </a:r>
            <a:r>
              <a:rPr b="0" sz="1100">
                <a:solidFill>
                  <a:srgbClr val="F5EDE4"/>
                </a:solidFill>
                <a:latin typeface="Segoe UI"/>
              </a:rPr>
              <a:t>In liquid markets, manipulation attempts result in massive financial losses for the manipulator and increased accuracy for the public.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REAL-WORLD USE CASES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Corporate &amp; Macroeconomic Hedging: Real-World Applications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17/22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Macro &amp; Central Bank Risk</a:t>
            </a:r>
          </a:p>
          <a:p>
            <a:pPr>
              <a:spcAft>
                <a:spcPts val="700"/>
              </a:spcAft>
            </a:pPr>
            <a:r>
              <a:rPr b="1" sz="1050">
                <a:solidFill>
                  <a:srgbClr val="DA4100"/>
                </a:solidFill>
                <a:latin typeface="Segoe UI"/>
              </a:rPr>
              <a:t>• Federal Reserve Rate Cuts: </a:t>
            </a:r>
            <a:r>
              <a:rPr b="0" sz="1050">
                <a:solidFill>
                  <a:srgbClr val="21140E"/>
                </a:solidFill>
                <a:latin typeface="Segoe UI"/>
              </a:rPr>
              <a:t>Mortgage lenders hedge borrowing cost spikes by trading Kalshi's FOMC rate contracts.</a:t>
            </a:r>
          </a:p>
          <a:p>
            <a:pPr>
              <a:spcAft>
                <a:spcPts val="700"/>
              </a:spcAft>
            </a:pPr>
            <a:r>
              <a:rPr b="1" sz="1050">
                <a:solidFill>
                  <a:srgbClr val="DA4100"/>
                </a:solidFill>
                <a:latin typeface="Segoe UI"/>
              </a:rPr>
              <a:t>• CPI Inflation Protection: </a:t>
            </a:r>
            <a:r>
              <a:rPr b="0" sz="1050">
                <a:solidFill>
                  <a:srgbClr val="21140E"/>
                </a:solidFill>
                <a:latin typeface="Segoe UI"/>
              </a:rPr>
              <a:t>Supply-chain managers protect inventory purchase budgets against surprise inflation prints.</a:t>
            </a:r>
          </a:p>
          <a:p>
            <a:pPr>
              <a:spcAft>
                <a:spcPts val="700"/>
              </a:spcAft>
            </a:pPr>
            <a:r>
              <a:rPr b="1" sz="1050">
                <a:solidFill>
                  <a:srgbClr val="DA4100"/>
                </a:solidFill>
                <a:latin typeface="Segoe UI"/>
              </a:rPr>
              <a:t>• Treasury Yield Benchmarking: </a:t>
            </a:r>
            <a:r>
              <a:rPr b="0" sz="1050">
                <a:solidFill>
                  <a:srgbClr val="21140E"/>
                </a:solidFill>
                <a:latin typeface="Segoe UI"/>
              </a:rPr>
              <a:t>Fixed-income asset managers hedge duration risk directly on specific 10-year yield thresholds.</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Regulatory &amp; Tax Policy</a:t>
            </a:r>
          </a:p>
          <a:p>
            <a:pPr>
              <a:spcAft>
                <a:spcPts val="700"/>
              </a:spcAft>
            </a:pPr>
            <a:r>
              <a:rPr b="1" sz="1050">
                <a:solidFill>
                  <a:srgbClr val="FF5900"/>
                </a:solidFill>
                <a:latin typeface="Segoe UI"/>
              </a:rPr>
              <a:t>• Corporate Tax Increases: </a:t>
            </a:r>
            <a:r>
              <a:rPr b="0" sz="1050">
                <a:solidFill>
                  <a:srgbClr val="F5EDE4"/>
                </a:solidFill>
                <a:latin typeface="Segoe UI"/>
              </a:rPr>
              <a:t>Corporations hedge capital expenditure exposure against proposed changes in the federal corporate tax rate.</a:t>
            </a:r>
          </a:p>
          <a:p>
            <a:pPr>
              <a:spcAft>
                <a:spcPts val="700"/>
              </a:spcAft>
            </a:pPr>
            <a:r>
              <a:rPr b="1" sz="1050">
                <a:solidFill>
                  <a:srgbClr val="FF5900"/>
                </a:solidFill>
                <a:latin typeface="Segoe UI"/>
              </a:rPr>
              <a:t>• Tariff &amp; Trade Barriers: </a:t>
            </a:r>
            <a:r>
              <a:rPr b="0" sz="1050">
                <a:solidFill>
                  <a:srgbClr val="F5EDE4"/>
                </a:solidFill>
                <a:latin typeface="Segoe UI"/>
              </a:rPr>
              <a:t>Importers hedge tariff risk on specific foreign goods under prospective executive orders.</a:t>
            </a:r>
          </a:p>
          <a:p>
            <a:pPr>
              <a:spcAft>
                <a:spcPts val="700"/>
              </a:spcAft>
            </a:pPr>
            <a:r>
              <a:rPr b="1" sz="1050">
                <a:solidFill>
                  <a:srgbClr val="FF5900"/>
                </a:solidFill>
                <a:latin typeface="Segoe UI"/>
              </a:rPr>
              <a:t>• Drug &amp; FDA Approvals: </a:t>
            </a:r>
            <a:r>
              <a:rPr b="0" sz="1050">
                <a:solidFill>
                  <a:srgbClr val="F5EDE4"/>
                </a:solidFill>
                <a:latin typeface="Segoe UI"/>
              </a:rPr>
              <a:t>Biotech firms hedge regulatory clinical trial approvals and FDA drug clearance timelines.</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Climate &amp; Disruption</a:t>
            </a:r>
          </a:p>
          <a:p>
            <a:pPr>
              <a:spcAft>
                <a:spcPts val="700"/>
              </a:spcAft>
            </a:pPr>
            <a:r>
              <a:rPr b="1" sz="1050">
                <a:solidFill>
                  <a:srgbClr val="3D2314"/>
                </a:solidFill>
                <a:latin typeface="Segoe UI"/>
              </a:rPr>
              <a:t>• Parametric Weather Insurance: </a:t>
            </a:r>
            <a:r>
              <a:rPr b="0" sz="1050">
                <a:solidFill>
                  <a:srgbClr val="21140E"/>
                </a:solidFill>
                <a:latin typeface="Segoe UI"/>
              </a:rPr>
              <a:t>Airlines and agricultural firms hedge rainfall, snowfall, or hurricane landfall without traditional insurer delays.</a:t>
            </a:r>
          </a:p>
          <a:p>
            <a:pPr>
              <a:spcAft>
                <a:spcPts val="700"/>
              </a:spcAft>
            </a:pPr>
            <a:r>
              <a:rPr b="1" sz="1050">
                <a:solidFill>
                  <a:srgbClr val="3D2314"/>
                </a:solidFill>
                <a:latin typeface="Segoe UI"/>
              </a:rPr>
              <a:t>• Geopolitical Conflict: </a:t>
            </a:r>
            <a:r>
              <a:rPr b="0" sz="1050">
                <a:solidFill>
                  <a:srgbClr val="21140E"/>
                </a:solidFill>
                <a:latin typeface="Segoe UI"/>
              </a:rPr>
              <a:t>Shipping conglomerates hedge canal closures (Suez, Panama) or regional military escalations.</a:t>
            </a:r>
          </a:p>
          <a:p>
            <a:pPr>
              <a:spcAft>
                <a:spcPts val="700"/>
              </a:spcAft>
            </a:pPr>
            <a:r>
              <a:rPr b="1" sz="1050">
                <a:solidFill>
                  <a:srgbClr val="3D2314"/>
                </a:solidFill>
                <a:latin typeface="Segoe UI"/>
              </a:rPr>
              <a:t>• Event Risk Unbundling: </a:t>
            </a:r>
            <a:r>
              <a:rPr b="0" sz="1050">
                <a:solidFill>
                  <a:srgbClr val="21140E"/>
                </a:solidFill>
                <a:latin typeface="Segoe UI"/>
              </a:rPr>
              <a:t>Isolating specific operational risks without buying expensive multi-asset cross-hedges.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COMPARATIVE MATRIX</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Head-to-Head Architectural Comparison: Kalshi vs. Polymarket</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18/22</a:t>
            </a:r>
          </a:p>
        </p:txBody>
      </p:sp>
      <p:sp>
        <p:nvSpPr>
          <p:cNvPr id="9" name="Rounded Rectangle 8"/>
          <p:cNvSpPr/>
          <p:nvPr/>
        </p:nvSpPr>
        <p:spPr>
          <a:xfrm>
            <a:off x="731520" y="1554480"/>
            <a:ext cx="10728655"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kalshi_vs_polymarket_comp.png"/>
          <p:cNvPicPr>
            <a:picLocks noChangeAspect="1"/>
          </p:cNvPicPr>
          <p:nvPr/>
        </p:nvPicPr>
        <p:blipFill>
          <a:blip r:embed="rId3"/>
          <a:stretch>
            <a:fillRect/>
          </a:stretch>
        </p:blipFill>
        <p:spPr>
          <a:xfrm>
            <a:off x="914400" y="1691640"/>
            <a:ext cx="10362895" cy="518144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MARKET MICROSTRUCTURE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Liquidity Provision: Algorithmic Market Makers &amp; Spread Dynamics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19/22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The Role of Quantitative Market Makers</a:t>
            </a:r>
          </a:p>
          <a:p>
            <a:pPr>
              <a:spcAft>
                <a:spcPts val="800"/>
              </a:spcAft>
            </a:pPr>
            <a:r>
              <a:rPr b="1" sz="1100">
                <a:solidFill>
                  <a:srgbClr val="DA4100"/>
                </a:solidFill>
                <a:latin typeface="Segoe UI"/>
              </a:rPr>
              <a:t>• Who Provides the Liquidity?: </a:t>
            </a:r>
            <a:r>
              <a:rPr b="0" sz="1100">
                <a:solidFill>
                  <a:srgbClr val="21140E"/>
                </a:solidFill>
                <a:latin typeface="Segoe UI"/>
              </a:rPr>
              <a:t>Leading Wall Street proprietary trading desks (Susquehanna International Group, Jane Street) and institutional crypto market makers (Wintermute, Keyrock).</a:t>
            </a:r>
          </a:p>
          <a:p>
            <a:pPr>
              <a:spcAft>
                <a:spcPts val="800"/>
              </a:spcAft>
            </a:pPr>
            <a:r>
              <a:rPr b="1" sz="1100">
                <a:solidFill>
                  <a:srgbClr val="DA4100"/>
                </a:solidFill>
                <a:latin typeface="Segoe UI"/>
              </a:rPr>
              <a:t>• Automated Inventory Balancing: </a:t>
            </a:r>
            <a:r>
              <a:rPr b="0" sz="1100">
                <a:solidFill>
                  <a:srgbClr val="21140E"/>
                </a:solidFill>
                <a:latin typeface="Segoe UI"/>
              </a:rPr>
              <a:t>Algorithms quote simultaneous bids and asks on both YES and NO contracts, locking in bid-ask spreads while remaining delta-neutral.</a:t>
            </a:r>
          </a:p>
          <a:p>
            <a:pPr>
              <a:spcAft>
                <a:spcPts val="800"/>
              </a:spcAft>
            </a:pPr>
            <a:r>
              <a:rPr b="1" sz="1100">
                <a:solidFill>
                  <a:srgbClr val="DA4100"/>
                </a:solidFill>
                <a:latin typeface="Segoe UI"/>
              </a:rPr>
              <a:t>• Liquidity Mining Incentives: </a:t>
            </a:r>
            <a:r>
              <a:rPr b="0" sz="1100">
                <a:solidFill>
                  <a:srgbClr val="21140E"/>
                </a:solidFill>
                <a:latin typeface="Segoe UI"/>
              </a:rPr>
              <a:t>Polymarket distributes daily rewards from fee pools to traders who maintain resting limit orders within 1¢ to 3¢ of the mid-price.</a:t>
            </a:r>
          </a:p>
          <a:p>
            <a:pPr>
              <a:spcAft>
                <a:spcPts val="800"/>
              </a:spcAft>
            </a:pPr>
            <a:r>
              <a:rPr b="1" sz="1100">
                <a:solidFill>
                  <a:srgbClr val="DA4100"/>
                </a:solidFill>
                <a:latin typeface="Segoe UI"/>
              </a:rPr>
              <a:t>• Spreads Collapse Under Scale: </a:t>
            </a:r>
            <a:r>
              <a:rPr b="0" sz="1100">
                <a:solidFill>
                  <a:srgbClr val="21140E"/>
                </a:solidFill>
                <a:latin typeface="Segoe UI"/>
              </a:rPr>
              <a:t>In high-volume contracts, bid-ask spreads narrowed to $0.01 (the minimum 1-cent tick size), creating frictionless retail execution.</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Risks Faced by Event Market Makers</a:t>
            </a:r>
          </a:p>
          <a:p>
            <a:pPr>
              <a:spcAft>
                <a:spcPts val="800"/>
              </a:spcAft>
            </a:pPr>
            <a:r>
              <a:rPr b="1" sz="1100">
                <a:solidFill>
                  <a:srgbClr val="FF5900"/>
                </a:solidFill>
                <a:latin typeface="Segoe UI"/>
              </a:rPr>
              <a:t>1. Adverse Selection from 'Insiders': </a:t>
            </a:r>
            <a:r>
              <a:rPr b="0" sz="1100">
                <a:solidFill>
                  <a:srgbClr val="F5EDE4"/>
                </a:solidFill>
                <a:latin typeface="Segoe UI"/>
              </a:rPr>
              <a:t>Event contracts carry asymmetric risk: someone in government or media may possess outcome knowledge before public release. Market makers risk getting picked off ('sniped').</a:t>
            </a:r>
          </a:p>
          <a:p>
            <a:pPr>
              <a:spcAft>
                <a:spcPts val="800"/>
              </a:spcAft>
            </a:pPr>
            <a:r>
              <a:rPr b="1" sz="1100">
                <a:solidFill>
                  <a:srgbClr val="FF5900"/>
                </a:solidFill>
                <a:latin typeface="Segoe UI"/>
              </a:rPr>
              <a:t>2. Jump-Risk Discontinuity: </a:t>
            </a:r>
            <a:r>
              <a:rPr b="0" sz="1100">
                <a:solidFill>
                  <a:srgbClr val="F5EDE4"/>
                </a:solidFill>
                <a:latin typeface="Segoe UI"/>
              </a:rPr>
              <a:t>Unlike equities which move continuously, event contracts can jump from $0.50 directly to $1.00 in a millisecond upon news breaking.</a:t>
            </a:r>
          </a:p>
          <a:p>
            <a:pPr>
              <a:spcAft>
                <a:spcPts val="800"/>
              </a:spcAft>
            </a:pPr>
            <a:r>
              <a:rPr b="1" sz="1100">
                <a:solidFill>
                  <a:srgbClr val="FF5900"/>
                </a:solidFill>
                <a:latin typeface="Segoe UI"/>
              </a:rPr>
              <a:t>3. Oracle Ambiguity Risk: </a:t>
            </a:r>
            <a:r>
              <a:rPr b="0" sz="1100">
                <a:solidFill>
                  <a:srgbClr val="F5EDE4"/>
                </a:solidFill>
                <a:latin typeface="Segoe UI"/>
              </a:rPr>
              <a:t>Holding large inventory across a market that settles into contentious dispute locks up capital in arbitration.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THE FUTURE OF INFORMATION FINANCE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The Frontier: Robin Hanson's Futarchy &amp; Autonomous AI Agents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20/22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Futarchy: Governance by Speculation</a:t>
            </a:r>
          </a:p>
          <a:p>
            <a:pPr>
              <a:spcAft>
                <a:spcPts val="800"/>
              </a:spcAft>
            </a:pPr>
            <a:r>
              <a:rPr b="1" sz="1100">
                <a:solidFill>
                  <a:srgbClr val="DA4100"/>
                </a:solidFill>
                <a:latin typeface="Segoe UI"/>
              </a:rPr>
              <a:t>• 'Vote on Values, Bet on Beliefs': </a:t>
            </a:r>
            <a:r>
              <a:rPr b="0" sz="1100">
                <a:solidFill>
                  <a:srgbClr val="21140E"/>
                </a:solidFill>
                <a:latin typeface="Segoe UI"/>
              </a:rPr>
              <a:t>Robin Hanson's radical governance model. Democracy votes on a national success metric (e.g., GDP + life expectancy). Prediction markets then evaluate which proposed policies would maximize that metric.</a:t>
            </a:r>
          </a:p>
          <a:p>
            <a:pPr>
              <a:spcAft>
                <a:spcPts val="800"/>
              </a:spcAft>
            </a:pPr>
            <a:r>
              <a:rPr b="1" sz="1100">
                <a:solidFill>
                  <a:srgbClr val="DA4100"/>
                </a:solidFill>
                <a:latin typeface="Segoe UI"/>
              </a:rPr>
              <a:t>• Conditional Event Markets: </a:t>
            </a:r>
            <a:r>
              <a:rPr b="0" sz="1100">
                <a:solidFill>
                  <a:srgbClr val="21140E"/>
                </a:solidFill>
                <a:latin typeface="Segoe UI"/>
              </a:rPr>
              <a:t>Two parallel markets are opened: 'GDP growth if Policy X passes' vs. 'GDP growth if Policy X is rejected'. Whichever policy market trades higher is automatically enacted into law.</a:t>
            </a:r>
          </a:p>
          <a:p>
            <a:pPr>
              <a:spcAft>
                <a:spcPts val="800"/>
              </a:spcAft>
            </a:pPr>
            <a:r>
              <a:rPr b="1" sz="1100">
                <a:solidFill>
                  <a:srgbClr val="DA4100"/>
                </a:solidFill>
                <a:latin typeface="Segoe UI"/>
              </a:rPr>
              <a:t>• Eliminating Political Populism: </a:t>
            </a:r>
            <a:r>
              <a:rPr b="0" sz="1100">
                <a:solidFill>
                  <a:srgbClr val="21140E"/>
                </a:solidFill>
                <a:latin typeface="Segoe UI"/>
              </a:rPr>
              <a:t>Replaces partisan rhetoric and empty campaign promises with objective, crowd-vetted financial forecasts.</a:t>
            </a:r>
          </a:p>
          <a:p>
            <a:pPr>
              <a:spcAft>
                <a:spcPts val="800"/>
              </a:spcAft>
            </a:pPr>
            <a:r>
              <a:rPr b="1" sz="1100">
                <a:solidFill>
                  <a:srgbClr val="DA4100"/>
                </a:solidFill>
                <a:latin typeface="Segoe UI"/>
              </a:rPr>
              <a:t>• DAO Experimentation: </a:t>
            </a:r>
            <a:r>
              <a:rPr b="0" sz="1100">
                <a:solidFill>
                  <a:srgbClr val="21140E"/>
                </a:solidFill>
                <a:latin typeface="Segoe UI"/>
              </a:rPr>
              <a:t>Web3 Decentralized Autonomous Organizations (DAOs) are currently piloting futarchy to manage multi-million dollar treasury allocations.</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Autonomous AI Agent Speculators</a:t>
            </a:r>
          </a:p>
          <a:p>
            <a:pPr>
              <a:spcAft>
                <a:spcPts val="800"/>
              </a:spcAft>
            </a:pPr>
            <a:r>
              <a:rPr b="1" sz="1100">
                <a:solidFill>
                  <a:srgbClr val="FF5900"/>
                </a:solidFill>
                <a:latin typeface="Segoe UI"/>
              </a:rPr>
              <a:t>1. High-Speed Web Scrapers &amp; LLMs: </a:t>
            </a:r>
            <a:r>
              <a:rPr b="0" sz="1100">
                <a:solidFill>
                  <a:srgbClr val="F5EDE4"/>
                </a:solidFill>
                <a:latin typeface="Segoe UI"/>
              </a:rPr>
              <a:t>Autonomous AI trading bots connected directly to Polymarket and Kalshi APIs digest breaking news, transcripts, and satellite imagery in sub-second intervals.</a:t>
            </a:r>
          </a:p>
          <a:p>
            <a:pPr>
              <a:spcAft>
                <a:spcPts val="800"/>
              </a:spcAft>
            </a:pPr>
            <a:r>
              <a:rPr b="1" sz="1100">
                <a:solidFill>
                  <a:srgbClr val="FF5900"/>
                </a:solidFill>
                <a:latin typeface="Segoe UI"/>
              </a:rPr>
              <a:t>2. Continuous Probability Calibration: </a:t>
            </a:r>
            <a:r>
              <a:rPr b="0" sz="1100">
                <a:solidFill>
                  <a:srgbClr val="F5EDE4"/>
                </a:solidFill>
                <a:latin typeface="Segoe UI"/>
              </a:rPr>
              <a:t>Multi-modal AI models compute real-time probability estimates and execute trades whenever market odds deviate from algorithmic consensus.</a:t>
            </a:r>
          </a:p>
          <a:p>
            <a:pPr>
              <a:spcAft>
                <a:spcPts val="800"/>
              </a:spcAft>
            </a:pPr>
            <a:r>
              <a:rPr b="1" sz="1100">
                <a:solidFill>
                  <a:srgbClr val="FF5900"/>
                </a:solidFill>
                <a:latin typeface="Segoe UI"/>
              </a:rPr>
              <a:t>3. Synthetic Consensus Engines: </a:t>
            </a:r>
            <a:r>
              <a:rPr b="0" sz="1100">
                <a:solidFill>
                  <a:srgbClr val="F5EDE4"/>
                </a:solidFill>
                <a:latin typeface="Segoe UI"/>
              </a:rPr>
              <a:t>Future search engines may synthesize prediction market odds rather than blue links to answer forward-looking factual queries.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POLICY &amp; LEGAL FRONTIER</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Regulatory Challenges &amp; Future Outlook: CFTC, Gambling &amp; Insider Trading</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21/22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Key Legal and Structural Headwinds</a:t>
            </a:r>
          </a:p>
          <a:p>
            <a:pPr>
              <a:spcAft>
                <a:spcPts val="800"/>
              </a:spcAft>
            </a:pPr>
            <a:r>
              <a:rPr b="1" sz="1100">
                <a:solidFill>
                  <a:srgbClr val="DA4100"/>
                </a:solidFill>
                <a:latin typeface="Segoe UI"/>
              </a:rPr>
              <a:t>• Gambling vs. Hedging Classification: </a:t>
            </a:r>
            <a:r>
              <a:rPr b="0" sz="1100">
                <a:solidFill>
                  <a:srgbClr val="21140E"/>
                </a:solidFill>
                <a:latin typeface="Segoe UI"/>
              </a:rPr>
              <a:t>State gaming commissions argue event contracts are unconstitutional state-lottery or sports-betting circumventions; the CFTC asserts federal preemption over derivatives.</a:t>
            </a:r>
          </a:p>
          <a:p>
            <a:pPr>
              <a:spcAft>
                <a:spcPts val="800"/>
              </a:spcAft>
            </a:pPr>
            <a:r>
              <a:rPr b="1" sz="1100">
                <a:solidFill>
                  <a:srgbClr val="DA4100"/>
                </a:solidFill>
                <a:latin typeface="Segoe UI"/>
              </a:rPr>
              <a:t>• The Insider Trading Question: </a:t>
            </a:r>
            <a:r>
              <a:rPr b="0" sz="1100">
                <a:solidFill>
                  <a:srgbClr val="21140E"/>
                </a:solidFill>
                <a:latin typeface="Segoe UI"/>
              </a:rPr>
              <a:t>Traditional insider trading laws (SEC Rule 10b-5) apply to corporate securities. Does an election campaign staffer or government aide who trades on internal private polling commit insider trading? Current commodity law contains statutory ambiguities.</a:t>
            </a:r>
          </a:p>
          <a:p>
            <a:pPr>
              <a:spcAft>
                <a:spcPts val="800"/>
              </a:spcAft>
            </a:pPr>
            <a:r>
              <a:rPr b="1" sz="1100">
                <a:solidFill>
                  <a:srgbClr val="DA4100"/>
                </a:solidFill>
                <a:latin typeface="Segoe UI"/>
              </a:rPr>
              <a:t>• Moral Hazard &amp; Assassination Contracts: </a:t>
            </a:r>
            <a:r>
              <a:rPr b="0" sz="1100">
                <a:solidFill>
                  <a:srgbClr val="21140E"/>
                </a:solidFill>
                <a:latin typeface="Segoe UI"/>
              </a:rPr>
              <a:t>Regulatory bodies explicitly forbid markets on war casualties, terrorism, or political violence to prevent perverse financial incentives.</a:t>
            </a:r>
          </a:p>
          <a:p>
            <a:pPr>
              <a:spcAft>
                <a:spcPts val="800"/>
              </a:spcAft>
            </a:pPr>
            <a:r>
              <a:rPr b="1" sz="1100">
                <a:solidFill>
                  <a:srgbClr val="DA4100"/>
                </a:solidFill>
                <a:latin typeface="Segoe UI"/>
              </a:rPr>
              <a:t>• International Licensing Friction: </a:t>
            </a:r>
            <a:r>
              <a:rPr b="0" sz="1100">
                <a:solidFill>
                  <a:srgbClr val="21140E"/>
                </a:solidFill>
                <a:latin typeface="Segoe UI"/>
              </a:rPr>
              <a:t>UK/EU gambling vs financial regulator conflicts.</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Strategic Policy Recommendations</a:t>
            </a:r>
          </a:p>
          <a:p>
            <a:pPr>
              <a:spcAft>
                <a:spcPts val="800"/>
              </a:spcAft>
            </a:pPr>
            <a:r>
              <a:rPr b="1" sz="1100">
                <a:solidFill>
                  <a:srgbClr val="FF5900"/>
                </a:solidFill>
                <a:latin typeface="Segoe UI"/>
              </a:rPr>
              <a:t>1. Modernized CFTC Rulemaking: </a:t>
            </a:r>
            <a:r>
              <a:rPr b="0" sz="1100">
                <a:solidFill>
                  <a:srgbClr val="F5EDE4"/>
                </a:solidFill>
                <a:latin typeface="Segoe UI"/>
              </a:rPr>
              <a:t>Congress and the CFTC should craft a dedicated 'Event Contract' regulatory sandbox balancing hedging legitimacy with consumer protection.</a:t>
            </a:r>
          </a:p>
          <a:p>
            <a:pPr>
              <a:spcAft>
                <a:spcPts val="800"/>
              </a:spcAft>
            </a:pPr>
            <a:r>
              <a:rPr b="1" sz="1100">
                <a:solidFill>
                  <a:srgbClr val="FF5900"/>
                </a:solidFill>
                <a:latin typeface="Segoe UI"/>
              </a:rPr>
              <a:t>2. Institutional Transparency Standards: </a:t>
            </a:r>
            <a:r>
              <a:rPr b="0" sz="1100">
                <a:solidFill>
                  <a:srgbClr val="F5EDE4"/>
                </a:solidFill>
                <a:latin typeface="Segoe UI"/>
              </a:rPr>
              <a:t>Mandate disclosure of large wallet clusters on decentralized platforms to eliminate synthetic volume wash trading.</a:t>
            </a:r>
          </a:p>
          <a:p>
            <a:pPr>
              <a:spcAft>
                <a:spcPts val="800"/>
              </a:spcAft>
            </a:pPr>
            <a:r>
              <a:rPr b="1" sz="1100">
                <a:solidFill>
                  <a:srgbClr val="FF5900"/>
                </a:solidFill>
                <a:latin typeface="Segoe UI"/>
              </a:rPr>
              <a:t>3. Formalized Primary Source Oracles: </a:t>
            </a:r>
            <a:r>
              <a:rPr b="0" sz="1100">
                <a:solidFill>
                  <a:srgbClr val="F5EDE4"/>
                </a:solidFill>
                <a:latin typeface="Segoe UI"/>
              </a:rPr>
              <a:t>Standardize cryptographic API oracle signing directly by government agencies (BLS, NOAA) to prevent resolution disputes.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COURSE CONCLUSION</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Key Takeaways &amp; Classroom Discussion Questions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All rights reserved.  |  hosted by Universidad Anáhuac Mayab  |  Prediction Markets: Kalshi &amp; Polymarket  |  Slide 22/22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Conceptual Synthesis of the Course</a:t>
            </a:r>
          </a:p>
          <a:p>
            <a:pPr>
              <a:spcAft>
                <a:spcPts val="750"/>
              </a:spcAft>
            </a:pPr>
            <a:r>
              <a:rPr b="1" sz="1050">
                <a:solidFill>
                  <a:srgbClr val="DA4100"/>
                </a:solidFill>
                <a:latin typeface="Segoe UI"/>
              </a:rPr>
              <a:t>• Information as an Asset Class: </a:t>
            </a:r>
            <a:r>
              <a:rPr b="0" sz="1050">
                <a:solidFill>
                  <a:srgbClr val="21140E"/>
                </a:solidFill>
                <a:latin typeface="Segoe UI"/>
              </a:rPr>
              <a:t>Prediction markets convert diffuse private beliefs into calibrated risk-neutral probabilities, proving superior to static opinion polling.</a:t>
            </a:r>
          </a:p>
          <a:p>
            <a:pPr>
              <a:spcAft>
                <a:spcPts val="750"/>
              </a:spcAft>
            </a:pPr>
            <a:r>
              <a:rPr b="1" sz="1050">
                <a:solidFill>
                  <a:srgbClr val="DA4100"/>
                </a:solidFill>
                <a:latin typeface="Segoe UI"/>
              </a:rPr>
              <a:t>• The Binary Microstructure: </a:t>
            </a:r>
            <a:r>
              <a:rPr b="0" sz="1050">
                <a:solidFill>
                  <a:srgbClr val="21140E"/>
                </a:solidFill>
                <a:latin typeface="Segoe UI"/>
              </a:rPr>
              <a:t>Event contracts represent pure Arrow-Debreu claims governed by the complementary rule $Price(YES) + Price(NO) = $1.00$.</a:t>
            </a:r>
          </a:p>
          <a:p>
            <a:pPr>
              <a:spcAft>
                <a:spcPts val="750"/>
              </a:spcAft>
            </a:pPr>
            <a:r>
              <a:rPr b="1" sz="1050">
                <a:solidFill>
                  <a:srgbClr val="DA4100"/>
                </a:solidFill>
                <a:latin typeface="Segoe UI"/>
              </a:rPr>
              <a:t>• Kalshi vs. Polymarket Divergence: </a:t>
            </a:r>
            <a:r>
              <a:rPr b="0" sz="1050">
                <a:solidFill>
                  <a:srgbClr val="21140E"/>
                </a:solidFill>
                <a:latin typeface="Segoe UI"/>
              </a:rPr>
              <a:t>Kalshi represents the regulated, fiat-cleared, centralized US institutional pathway; Polymarket embodies borderless, Web3, USDC-denominated global liquidity.</a:t>
            </a:r>
          </a:p>
          <a:p>
            <a:pPr>
              <a:spcAft>
                <a:spcPts val="750"/>
              </a:spcAft>
            </a:pPr>
            <a:r>
              <a:rPr b="1" sz="1050">
                <a:solidFill>
                  <a:srgbClr val="DA4100"/>
                </a:solidFill>
                <a:latin typeface="Segoe UI"/>
              </a:rPr>
              <a:t>• The Oracle Imperative: </a:t>
            </a:r>
            <a:r>
              <a:rPr b="0" sz="1050">
                <a:solidFill>
                  <a:srgbClr val="21140E"/>
                </a:solidFill>
                <a:latin typeface="Segoe UI"/>
              </a:rPr>
              <a:t>A prediction market is only as robust as its resolution mechanism; centralized contracts depend on legal precision, while decentralized markets rely on game-theoretic UMA voting.</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Questions for Classroom Debate</a:t>
            </a:r>
          </a:p>
          <a:p>
            <a:pPr>
              <a:spcAft>
                <a:spcPts val="900"/>
              </a:spcAft>
            </a:pPr>
            <a:r>
              <a:rPr b="1" sz="1050">
                <a:solidFill>
                  <a:srgbClr val="FF5900"/>
                </a:solidFill>
                <a:latin typeface="Segoe UI"/>
              </a:rPr>
              <a:t>1. Democracy vs. Financial Speculation: </a:t>
            </a:r>
            <a:r>
              <a:rPr b="0" sz="1050">
                <a:solidFill>
                  <a:srgbClr val="F5EDE4"/>
                </a:solidFill>
                <a:latin typeface="Segoe UI"/>
              </a:rPr>
              <a:t>Do election prediction markets strengthen democratic accountability by providing unbiased probability data, or do they debase civic participation into commercial gambling?</a:t>
            </a:r>
          </a:p>
          <a:p>
            <a:pPr>
              <a:spcAft>
                <a:spcPts val="900"/>
              </a:spcAft>
            </a:pPr>
            <a:r>
              <a:rPr b="1" sz="1050">
                <a:solidFill>
                  <a:srgbClr val="FF5900"/>
                </a:solidFill>
                <a:latin typeface="Segoe UI"/>
              </a:rPr>
              <a:t>2. The Insider Trading Boundary: </a:t>
            </a:r>
            <a:r>
              <a:rPr b="0" sz="1050">
                <a:solidFill>
                  <a:srgbClr val="F5EDE4"/>
                </a:solidFill>
                <a:latin typeface="Segoe UI"/>
              </a:rPr>
              <a:t>If a White House or corporate staffer trades on non-public regulatory information in a prediction market, does that harm market integrity, or does it accelerate societal price discovery?</a:t>
            </a:r>
          </a:p>
          <a:p>
            <a:pPr>
              <a:spcAft>
                <a:spcPts val="900"/>
              </a:spcAft>
            </a:pPr>
            <a:r>
              <a:rPr b="1" sz="1050">
                <a:solidFill>
                  <a:srgbClr val="FF5900"/>
                </a:solidFill>
                <a:latin typeface="Segoe UI"/>
              </a:rPr>
              <a:t>3. Centralized vs. Decentralized Supremacy: </a:t>
            </a:r>
            <a:r>
              <a:rPr b="0" sz="1050">
                <a:solidFill>
                  <a:srgbClr val="F5EDE4"/>
                </a:solidFill>
                <a:latin typeface="Segoe UI"/>
              </a:rPr>
              <a:t>Which model will dominate global information finance over the next decade: the compliant, fiat-backed, CFTC-regulated architecture of Kalshi, or the borderless, non-custodial, Web3 liquidity of Polymarket?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5900"/>
      </a:hlink>
      <a:folHlink>
        <a:srgbClr val="FFA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